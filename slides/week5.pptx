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83" r:id="rId2"/>
    <p:sldId id="364" r:id="rId3"/>
    <p:sldId id="355" r:id="rId4"/>
    <p:sldId id="356" r:id="rId5"/>
    <p:sldId id="357" r:id="rId6"/>
    <p:sldId id="273" r:id="rId7"/>
    <p:sldId id="323" r:id="rId8"/>
    <p:sldId id="259" r:id="rId9"/>
    <p:sldId id="264" r:id="rId10"/>
    <p:sldId id="260" r:id="rId11"/>
    <p:sldId id="262" r:id="rId12"/>
    <p:sldId id="261" r:id="rId13"/>
    <p:sldId id="324" r:id="rId14"/>
    <p:sldId id="335" r:id="rId15"/>
    <p:sldId id="265" r:id="rId16"/>
    <p:sldId id="326" r:id="rId17"/>
    <p:sldId id="263" r:id="rId18"/>
    <p:sldId id="266" r:id="rId19"/>
    <p:sldId id="267" r:id="rId20"/>
    <p:sldId id="268" r:id="rId21"/>
    <p:sldId id="269" r:id="rId22"/>
    <p:sldId id="328" r:id="rId23"/>
    <p:sldId id="336" r:id="rId24"/>
    <p:sldId id="270" r:id="rId25"/>
    <p:sldId id="271" r:id="rId26"/>
    <p:sldId id="337" r:id="rId27"/>
    <p:sldId id="360" r:id="rId28"/>
    <p:sldId id="333" r:id="rId29"/>
    <p:sldId id="332" r:id="rId30"/>
    <p:sldId id="334" r:id="rId31"/>
    <p:sldId id="293" r:id="rId32"/>
    <p:sldId id="350" r:id="rId33"/>
    <p:sldId id="358" r:id="rId34"/>
    <p:sldId id="359" r:id="rId35"/>
    <p:sldId id="361" r:id="rId36"/>
    <p:sldId id="362" r:id="rId37"/>
    <p:sldId id="36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6"/>
    <p:restoredTop sz="92270" autoAdjust="0"/>
  </p:normalViewPr>
  <p:slideViewPr>
    <p:cSldViewPr>
      <p:cViewPr>
        <p:scale>
          <a:sx n="106" d="100"/>
          <a:sy n="106" d="100"/>
        </p:scale>
        <p:origin x="1800" y="3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g, Mirza Muhammad Sarim" userId="6e05559e-fe27-4d43-ae98-9adec9b29b41" providerId="ADAL" clId="{DE3EB41C-B2D7-5813-AF68-AAAE92E6B3A4}"/>
    <pc:docChg chg="custSel delSld modSld">
      <pc:chgData name="Baig, Mirza Muhammad Sarim" userId="6e05559e-fe27-4d43-ae98-9adec9b29b41" providerId="ADAL" clId="{DE3EB41C-B2D7-5813-AF68-AAAE92E6B3A4}" dt="2026-01-30T14:27:34.424" v="129" actId="113"/>
      <pc:docMkLst>
        <pc:docMk/>
      </pc:docMkLst>
      <pc:sldChg chg="modSp mod">
        <pc:chgData name="Baig, Mirza Muhammad Sarim" userId="6e05559e-fe27-4d43-ae98-9adec9b29b41" providerId="ADAL" clId="{DE3EB41C-B2D7-5813-AF68-AAAE92E6B3A4}" dt="2026-01-30T14:27:34.424" v="129" actId="113"/>
        <pc:sldMkLst>
          <pc:docMk/>
          <pc:sldMk cId="2285216612" sldId="283"/>
        </pc:sldMkLst>
        <pc:spChg chg="mod">
          <ac:chgData name="Baig, Mirza Muhammad Sarim" userId="6e05559e-fe27-4d43-ae98-9adec9b29b41" providerId="ADAL" clId="{DE3EB41C-B2D7-5813-AF68-AAAE92E6B3A4}" dt="2026-01-30T14:27:34.424" v="129" actId="113"/>
          <ac:spMkLst>
            <pc:docMk/>
            <pc:sldMk cId="2285216612" sldId="283"/>
            <ac:spMk id="54" creationId="{00000000-0000-0000-0000-000000000000}"/>
          </ac:spMkLst>
        </pc:spChg>
      </pc:sldChg>
      <pc:sldChg chg="del">
        <pc:chgData name="Baig, Mirza Muhammad Sarim" userId="6e05559e-fe27-4d43-ae98-9adec9b29b41" providerId="ADAL" clId="{DE3EB41C-B2D7-5813-AF68-AAAE92E6B3A4}" dt="2026-01-30T14:26:38.127" v="0" actId="2696"/>
        <pc:sldMkLst>
          <pc:docMk/>
          <pc:sldMk cId="569392965" sldId="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F4860-087B-4CE5-879D-FE9C0BCE555A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3229A-4D3F-4AC0-9EAD-9E5312833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62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4985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the choice of using a SQL or NoSQL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602F8-6944-C64E-9E33-5125641203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95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e76317223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57" name="Google Shape;157;ge76317223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18910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e76317223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73" name="Google Shape;173;ge76317223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1520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Comprehensive list of attribute meanings: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Employee</a:t>
            </a:r>
          </a:p>
          <a:p>
            <a:r>
              <a:rPr lang="en-US" dirty="0" err="1"/>
              <a:t>fname</a:t>
            </a:r>
            <a:r>
              <a:rPr lang="en-US" dirty="0"/>
              <a:t>: first name</a:t>
            </a:r>
          </a:p>
          <a:p>
            <a:r>
              <a:rPr lang="en-US" dirty="0"/>
              <a:t>mint: middle initial</a:t>
            </a:r>
          </a:p>
          <a:p>
            <a:r>
              <a:rPr lang="en-US" dirty="0" err="1"/>
              <a:t>lname</a:t>
            </a:r>
            <a:r>
              <a:rPr lang="en-US" dirty="0"/>
              <a:t>: last name</a:t>
            </a:r>
          </a:p>
          <a:p>
            <a:r>
              <a:rPr lang="en-US" dirty="0"/>
              <a:t>empid: employee identifier</a:t>
            </a:r>
          </a:p>
          <a:p>
            <a:r>
              <a:rPr lang="en-US" dirty="0" err="1"/>
              <a:t>bdate</a:t>
            </a:r>
            <a:r>
              <a:rPr lang="en-US" dirty="0"/>
              <a:t>: birth date</a:t>
            </a:r>
          </a:p>
          <a:p>
            <a:r>
              <a:rPr lang="en-US" dirty="0"/>
              <a:t>address: home address</a:t>
            </a:r>
          </a:p>
          <a:p>
            <a:r>
              <a:rPr lang="en-US" dirty="0"/>
              <a:t>gender: gender</a:t>
            </a:r>
          </a:p>
          <a:p>
            <a:r>
              <a:rPr lang="en-US" dirty="0"/>
              <a:t>salary: annual salary</a:t>
            </a:r>
          </a:p>
          <a:p>
            <a:r>
              <a:rPr lang="en-US" dirty="0" err="1"/>
              <a:t>superid</a:t>
            </a:r>
            <a:r>
              <a:rPr lang="en-US" dirty="0"/>
              <a:t>: supervisor’s employee id</a:t>
            </a:r>
          </a:p>
          <a:p>
            <a:r>
              <a:rPr lang="en-US" dirty="0" err="1"/>
              <a:t>dno</a:t>
            </a:r>
            <a:r>
              <a:rPr lang="en-US" dirty="0"/>
              <a:t>: department number</a:t>
            </a:r>
          </a:p>
          <a:p>
            <a:endParaRPr lang="en-US" dirty="0"/>
          </a:p>
          <a:p>
            <a:r>
              <a:rPr lang="en-US" dirty="0"/>
              <a:t>Department</a:t>
            </a:r>
          </a:p>
          <a:p>
            <a:r>
              <a:rPr lang="en-US" dirty="0" err="1"/>
              <a:t>dname</a:t>
            </a:r>
            <a:r>
              <a:rPr lang="en-US" dirty="0"/>
              <a:t>: department name</a:t>
            </a:r>
          </a:p>
          <a:p>
            <a:r>
              <a:rPr lang="en-US" dirty="0" err="1"/>
              <a:t>dno</a:t>
            </a:r>
            <a:r>
              <a:rPr lang="en-US" dirty="0"/>
              <a:t>: department number</a:t>
            </a:r>
          </a:p>
          <a:p>
            <a:r>
              <a:rPr lang="en-US" dirty="0" err="1"/>
              <a:t>mgrid</a:t>
            </a:r>
            <a:r>
              <a:rPr lang="en-US" dirty="0"/>
              <a:t>: manager’s employee id</a:t>
            </a:r>
          </a:p>
          <a:p>
            <a:r>
              <a:rPr lang="en-US" dirty="0" err="1"/>
              <a:t>mgstartdate</a:t>
            </a:r>
            <a:r>
              <a:rPr lang="en-US" dirty="0"/>
              <a:t>: manager start date</a:t>
            </a:r>
          </a:p>
          <a:p>
            <a:endParaRPr lang="en-US" dirty="0"/>
          </a:p>
          <a:p>
            <a:r>
              <a:rPr lang="en-US" dirty="0"/>
              <a:t>Project</a:t>
            </a:r>
          </a:p>
          <a:p>
            <a:r>
              <a:rPr lang="en-US" dirty="0" err="1"/>
              <a:t>pname</a:t>
            </a:r>
            <a:r>
              <a:rPr lang="en-US" dirty="0"/>
              <a:t>: project name</a:t>
            </a:r>
          </a:p>
          <a:p>
            <a:r>
              <a:rPr lang="en-US" dirty="0" err="1"/>
              <a:t>pno</a:t>
            </a:r>
            <a:r>
              <a:rPr lang="en-US" dirty="0"/>
              <a:t>: project number</a:t>
            </a:r>
          </a:p>
          <a:p>
            <a:r>
              <a:rPr lang="en-US" dirty="0" err="1"/>
              <a:t>plocation</a:t>
            </a:r>
            <a:r>
              <a:rPr lang="en-US" dirty="0"/>
              <a:t>: project location</a:t>
            </a:r>
          </a:p>
          <a:p>
            <a:r>
              <a:rPr lang="en-US" dirty="0" err="1"/>
              <a:t>dno</a:t>
            </a:r>
            <a:r>
              <a:rPr lang="en-US" dirty="0"/>
              <a:t>: controlling department number</a:t>
            </a:r>
          </a:p>
          <a:p>
            <a:endParaRPr lang="en-US" dirty="0"/>
          </a:p>
          <a:p>
            <a:r>
              <a:rPr lang="en-US" dirty="0"/>
              <a:t>WorksOn</a:t>
            </a:r>
          </a:p>
          <a:p>
            <a:r>
              <a:rPr lang="en-US" dirty="0"/>
              <a:t>empid: employee id</a:t>
            </a:r>
          </a:p>
          <a:p>
            <a:r>
              <a:rPr lang="en-US" dirty="0" err="1"/>
              <a:t>pno</a:t>
            </a:r>
            <a:r>
              <a:rPr lang="en-US" dirty="0"/>
              <a:t>: project number</a:t>
            </a:r>
          </a:p>
          <a:p>
            <a:r>
              <a:rPr lang="en-US" dirty="0"/>
              <a:t>hours: hours worked</a:t>
            </a:r>
          </a:p>
          <a:p>
            <a:endParaRPr lang="en-US" dirty="0"/>
          </a:p>
          <a:p>
            <a:r>
              <a:rPr lang="en-US" dirty="0"/>
              <a:t>Dependent</a:t>
            </a:r>
          </a:p>
          <a:p>
            <a:r>
              <a:rPr lang="en-US" dirty="0"/>
              <a:t>empid: employee id (owner)</a:t>
            </a:r>
          </a:p>
          <a:p>
            <a:r>
              <a:rPr lang="en-US" dirty="0"/>
              <a:t>depname: dependent name</a:t>
            </a:r>
          </a:p>
          <a:p>
            <a:r>
              <a:rPr lang="en-US" dirty="0"/>
              <a:t>gender: dependent gender</a:t>
            </a:r>
          </a:p>
          <a:p>
            <a:r>
              <a:rPr lang="en-US" dirty="0" err="1"/>
              <a:t>bdate</a:t>
            </a:r>
            <a:r>
              <a:rPr lang="en-US" dirty="0"/>
              <a:t>: dependent birth date</a:t>
            </a:r>
          </a:p>
          <a:p>
            <a:r>
              <a:rPr lang="en-US" dirty="0"/>
              <a:t>relationship: relationship to employee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37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e82c37e3b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0" name="Google Shape;230;ge82c37e3b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145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ea59e8c46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72" name="Google Shape;272;gea59e8c464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3717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e82c37e3b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9" name="Google Shape;239;ge82c37e3b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7123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ea59e8c46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56" name="Google Shape;256;gea59e8c46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1301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a59e8c4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48" name="Google Shape;248;gea59e8c4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780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97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contrast to set semantics are the ‘bag semantics’ used by SQL, where non-unique tuples are allowed, and we have to write an explicit ‘DISTINCT’ statement to remove duplicates.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66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ea59e8c46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1" name="Google Shape;281;gea59e8c46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5738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you answer the following query with the operators we have seen so far?</a:t>
            </a:r>
          </a:p>
          <a:p>
            <a:endParaRPr lang="en-US" dirty="0"/>
          </a:p>
          <a:p>
            <a:r>
              <a:rPr lang="en-US" i="1" dirty="0">
                <a:solidFill>
                  <a:srgbClr val="FF0000"/>
                </a:solidFill>
              </a:rPr>
              <a:t>List the names and genders of all employees with a salary of at least 80, 000 pounds who are not working on any project.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940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a59e8c46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64" name="Google Shape;264;gea59e8c46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54024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a59e8c46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89" name="Google Shape;289;gea59e8c46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We can think of the join operation as a cross product with a filter.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7591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ea59e8c464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7" name="Google Shape;297;gea59e8c464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 Natural Join is an inner Join in which the columns in the con</a:t>
            </a:r>
            <a:r>
              <a:rPr lang="en-GB" dirty="0"/>
              <a:t>di</a:t>
            </a:r>
            <a:r>
              <a:rPr lang="en" dirty="0" err="1"/>
              <a:t>tion</a:t>
            </a:r>
            <a:r>
              <a:rPr lang="en" dirty="0"/>
              <a:t> are chosen by default to be the ones with the same names. The reason for having a separate natural join operator is simply because often the primary key of one table and the foreign key of another have the same name, hence a natural join simplifies the syntax.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1803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ea59e8c464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05" name="Google Shape;305;gea59e8c464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9373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ea59e8c464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13" name="Google Shape;313;gea59e8c464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Example: You might want to join employees to their departments but also wish to include employees who have not been assigned departments yet. </a:t>
            </a:r>
          </a:p>
        </p:txBody>
      </p:sp>
    </p:spTree>
    <p:extLst>
      <p:ext uri="{BB962C8B-B14F-4D97-AF65-F5344CB8AC3E}">
        <p14:creationId xmlns:p14="http://schemas.microsoft.com/office/powerpoint/2010/main" val="3961788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generally a good idea to push the selections to the inner levels of nesting as much as possible, as this would leave less data for the external operations to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099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57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ea59e8c46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1" name="Google Shape;321;gea59e8c46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7812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a59e8c464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28" name="Google Shape;328;gea59e8c464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For each unique value in A, compute sum of the elements of B and the max of 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When a grouping attribute is not supplied, global results are computed. In this case, the result would be a 1x2 table containing: 26, 10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0169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generally a good idea to push the selections to the inner levels of nesting as much as possible, as this would leave less data for the external operations to work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429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081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47bde50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e47bde50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222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63229A-4D3F-4AC0-9EAD-9E5312833A2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4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1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7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83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2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0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83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68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51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73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48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360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47A61-5A62-49B2-AFF6-9AA0A5031E2E}" type="datetimeFigureOut">
              <a:rPr lang="en-US" smtClean="0"/>
              <a:t>1/30/26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233D1-81C9-4C5A-9BE8-CDD987C5A9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2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epWok/pynqchat/tree/main/slides/Week5LecData" TargetMode="External"/><Relationship Id="rId2" Type="http://schemas.openxmlformats.org/officeDocument/2006/relationships/hyperlink" Target="https://sqliteonline.com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981200"/>
            <a:ext cx="85206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 dirty="0">
                <a:latin typeface="+mj-lt"/>
                <a:cs typeface="Calibri" pitchFamily="34" charset="0"/>
              </a:rPr>
              <a:t>Week 5</a:t>
            </a:r>
            <a:br>
              <a:rPr lang="en-GB" sz="5000" dirty="0">
                <a:latin typeface="+mj-lt"/>
                <a:cs typeface="Calibri" pitchFamily="34" charset="0"/>
              </a:rPr>
            </a:br>
            <a:br>
              <a:rPr lang="en-GB" sz="5000" dirty="0">
                <a:latin typeface="+mj-lt"/>
                <a:cs typeface="Calibri" pitchFamily="34" charset="0"/>
              </a:rPr>
            </a:br>
            <a:r>
              <a:rPr lang="en-GB" sz="5000" dirty="0">
                <a:latin typeface="+mj-lt"/>
                <a:cs typeface="Calibri" pitchFamily="34" charset="0"/>
              </a:rPr>
              <a:t>Relational Databases</a:t>
            </a:r>
            <a:br>
              <a:rPr lang="en-GB" sz="5000" dirty="0">
                <a:latin typeface="+mj-lt"/>
                <a:cs typeface="Calibri" pitchFamily="34" charset="0"/>
              </a:rPr>
            </a:br>
            <a:r>
              <a:rPr lang="en-GB" sz="2700" b="1" dirty="0">
                <a:latin typeface="+mj-lt"/>
                <a:cs typeface="Calibri" pitchFamily="34" charset="0"/>
              </a:rPr>
              <a:t>The Relational Model, Relational Algebra, and SQL</a:t>
            </a:r>
            <a:endParaRPr sz="2700" b="1" dirty="0">
              <a:latin typeface="+mj-lt"/>
              <a:cs typeface="Calibri" pitchFamily="34" charset="0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5216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88243-A35E-69D0-BA4A-DC1FC04C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E5B99-C686-1C12-2382-F59EAC035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 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Introduction to the </a:t>
            </a:r>
            <a:r>
              <a:rPr lang="en-US" b="1" dirty="0"/>
              <a:t>relational model </a:t>
            </a:r>
            <a:r>
              <a:rPr lang="en-US" dirty="0"/>
              <a:t>of database design</a:t>
            </a:r>
          </a:p>
          <a:p>
            <a:pPr lvl="1"/>
            <a:r>
              <a:rPr lang="en-US" dirty="0"/>
              <a:t>Introduction to </a:t>
            </a:r>
            <a:r>
              <a:rPr lang="en-US" b="1" dirty="0"/>
              <a:t>relational algebra</a:t>
            </a:r>
            <a:r>
              <a:rPr lang="en-US" dirty="0"/>
              <a:t>, which forms the basis of the </a:t>
            </a:r>
            <a:r>
              <a:rPr lang="en-US" b="1" dirty="0"/>
              <a:t>Structured Query Language </a:t>
            </a:r>
            <a:r>
              <a:rPr lang="en-US" dirty="0"/>
              <a:t>(SQL)</a:t>
            </a:r>
          </a:p>
          <a:p>
            <a:pPr lvl="1"/>
            <a:r>
              <a:rPr lang="en-US" dirty="0"/>
              <a:t>Mapping relational algebra to SQL</a:t>
            </a:r>
          </a:p>
          <a:p>
            <a:r>
              <a:rPr lang="en-US" b="1" dirty="0"/>
              <a:t>Part II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Hands-on exercise </a:t>
            </a:r>
            <a:r>
              <a:rPr lang="en-US" dirty="0"/>
              <a:t>with SQL </a:t>
            </a:r>
          </a:p>
        </p:txBody>
      </p:sp>
    </p:spTree>
    <p:extLst>
      <p:ext uri="{BB962C8B-B14F-4D97-AF65-F5344CB8AC3E}">
        <p14:creationId xmlns:p14="http://schemas.microsoft.com/office/powerpoint/2010/main" val="1372604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C77C-FFBF-4446-AE08-A227F249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/>
              <a:t>Database Options</a:t>
            </a:r>
            <a:br>
              <a:rPr lang="en-US" b="1" dirty="0"/>
            </a:br>
            <a:r>
              <a:rPr lang="en-US" sz="2700" b="1" dirty="0"/>
              <a:t>Repeated from Week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8A35A-B588-4A2F-A01B-B3EBA3136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24" y="1600200"/>
            <a:ext cx="8372475" cy="4876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SQL databases (or relational databases)</a:t>
            </a:r>
            <a:endParaRPr lang="en-US" dirty="0"/>
          </a:p>
          <a:p>
            <a:pPr lvl="1"/>
            <a:r>
              <a:rPr lang="en-US" dirty="0"/>
              <a:t>Well defined </a:t>
            </a:r>
            <a:r>
              <a:rPr lang="en-US" b="1" dirty="0"/>
              <a:t>schema </a:t>
            </a:r>
          </a:p>
          <a:p>
            <a:pPr lvl="2"/>
            <a:r>
              <a:rPr lang="en-US" dirty="0"/>
              <a:t>the database is modeled as a set of joinable tables with pre-defined columns</a:t>
            </a:r>
          </a:p>
          <a:p>
            <a:pPr lvl="1"/>
            <a:r>
              <a:rPr lang="en-US" dirty="0"/>
              <a:t>Entities are stored in </a:t>
            </a:r>
            <a:r>
              <a:rPr lang="en-US" b="1" dirty="0"/>
              <a:t>tables </a:t>
            </a:r>
            <a:r>
              <a:rPr lang="en-US" dirty="0"/>
              <a:t>(called relations), managed by an</a:t>
            </a:r>
            <a:r>
              <a:rPr lang="en-US" b="1" dirty="0"/>
              <a:t> RDBMS</a:t>
            </a:r>
          </a:p>
          <a:p>
            <a:pPr lvl="1"/>
            <a:r>
              <a:rPr lang="en-US" b="1" dirty="0"/>
              <a:t>Tables can be joined </a:t>
            </a:r>
            <a:r>
              <a:rPr lang="en-US" dirty="0"/>
              <a:t>and using a powerful and flexible querying language: </a:t>
            </a:r>
            <a:r>
              <a:rPr lang="en-US" b="1" dirty="0"/>
              <a:t>SQL</a:t>
            </a:r>
          </a:p>
          <a:p>
            <a:pPr lvl="1"/>
            <a:r>
              <a:rPr lang="en-US" dirty="0"/>
              <a:t>Data follows a </a:t>
            </a:r>
            <a:r>
              <a:rPr lang="en-US" b="1" dirty="0"/>
              <a:t>rigid structure </a:t>
            </a:r>
            <a:r>
              <a:rPr lang="en-US" dirty="0"/>
              <a:t>and is mostly </a:t>
            </a:r>
            <a:r>
              <a:rPr lang="en-US" b="1" dirty="0"/>
              <a:t>non-redundant</a:t>
            </a:r>
          </a:p>
          <a:p>
            <a:pPr lvl="1"/>
            <a:r>
              <a:rPr lang="en-US" dirty="0"/>
              <a:t>Changing/updating the structure of data involves change in schema and </a:t>
            </a:r>
            <a:r>
              <a:rPr lang="en-US" b="1" dirty="0"/>
              <a:t>database alterations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is a DBA – a </a:t>
            </a:r>
            <a:r>
              <a:rPr lang="en-US" b="1" dirty="0"/>
              <a:t>database administrator </a:t>
            </a:r>
            <a:r>
              <a:rPr lang="en-US" dirty="0"/>
              <a:t>-- between the application developer and the database, responsible for defining and altering the schema if needed.</a:t>
            </a:r>
          </a:p>
          <a:p>
            <a:pPr lvl="2"/>
            <a:r>
              <a:rPr lang="en-US" b="1" dirty="0"/>
              <a:t>Using SQL’s DDL</a:t>
            </a:r>
          </a:p>
          <a:p>
            <a:pPr lvl="2"/>
            <a:endParaRPr lang="en-US" b="1" dirty="0"/>
          </a:p>
          <a:p>
            <a:pPr marL="0" indent="0">
              <a:buNone/>
            </a:pPr>
            <a:r>
              <a:rPr lang="en-US" b="1" dirty="0"/>
              <a:t>Naturally ideal for vertical scaling, i.e., </a:t>
            </a:r>
            <a:r>
              <a:rPr lang="en-GB" dirty="0"/>
              <a:t>increasing the database’s capacity by adding more resources (CPU, memory, storage) to a single machine.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0426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B5174-6D7D-2688-06D1-25DD6100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77F0-CA50-4016-4EAC-97F2C04C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Relational Model</a:t>
            </a:r>
          </a:p>
        </p:txBody>
      </p:sp>
      <p:pic>
        <p:nvPicPr>
          <p:cNvPr id="4" name="Google Shape;153;p25">
            <a:extLst>
              <a:ext uri="{FF2B5EF4-FFF2-40B4-BE49-F238E27FC236}">
                <a16:creationId xmlns:a16="http://schemas.microsoft.com/office/drawing/2014/main" id="{F2D775C6-8A77-DF54-D8DB-1707676C92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90600" y="3109969"/>
            <a:ext cx="6368176" cy="374803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E8555-0A89-9EB7-8ABB-B864F74534AA}"/>
              </a:ext>
            </a:extLst>
          </p:cNvPr>
          <p:cNvSpPr txBox="1"/>
          <p:nvPr/>
        </p:nvSpPr>
        <p:spPr>
          <a:xfrm>
            <a:off x="609600" y="1417638"/>
            <a:ext cx="77001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</a:t>
            </a:r>
            <a:r>
              <a:rPr lang="en-US" sz="1600" b="1" dirty="0"/>
              <a:t>relation</a:t>
            </a:r>
            <a:r>
              <a:rPr lang="en-US" sz="1600" dirty="0"/>
              <a:t> (table) contains </a:t>
            </a:r>
            <a:r>
              <a:rPr lang="en-US" sz="1600" b="1" dirty="0"/>
              <a:t>records</a:t>
            </a:r>
            <a:r>
              <a:rPr lang="en-US" sz="1600" dirty="0"/>
              <a:t> (rows) made of </a:t>
            </a:r>
            <a:r>
              <a:rPr lang="en-US" sz="1600" b="1" dirty="0"/>
              <a:t>fields</a:t>
            </a:r>
            <a:r>
              <a:rPr lang="en-US" sz="1600" dirty="0"/>
              <a:t> (columns).</a:t>
            </a:r>
          </a:p>
          <a:p>
            <a:endParaRPr lang="en-US" sz="1600" dirty="0"/>
          </a:p>
          <a:p>
            <a:r>
              <a:rPr lang="en-US" sz="1600" dirty="0"/>
              <a:t>At least one of the fields is a </a:t>
            </a:r>
            <a:r>
              <a:rPr lang="en-US" sz="1600" b="1" dirty="0"/>
              <a:t>primary key </a:t>
            </a:r>
            <a:r>
              <a:rPr lang="en-US" sz="1600" dirty="0"/>
              <a:t>(key field), used to uniquely identify a record.</a:t>
            </a:r>
          </a:p>
          <a:p>
            <a:endParaRPr lang="en-US" sz="1600" dirty="0"/>
          </a:p>
          <a:p>
            <a:r>
              <a:rPr lang="en-US" sz="1600" b="1" dirty="0"/>
              <a:t>Important rule</a:t>
            </a:r>
            <a:r>
              <a:rPr lang="en-US" sz="1600" dirty="0"/>
              <a:t>: each data item has a </a:t>
            </a:r>
            <a:r>
              <a:rPr lang="en-US" sz="1600" b="1" dirty="0"/>
              <a:t>type</a:t>
            </a:r>
            <a:r>
              <a:rPr lang="en-US" sz="1600" dirty="0"/>
              <a:t> (the type of that field) and must be atomic, i.e., </a:t>
            </a:r>
          </a:p>
          <a:p>
            <a:r>
              <a:rPr lang="en-US" sz="1600" dirty="0"/>
              <a:t>it cannot be a list or any other kind of collection.  </a:t>
            </a:r>
          </a:p>
        </p:txBody>
      </p:sp>
    </p:spTree>
    <p:extLst>
      <p:ext uri="{BB962C8B-B14F-4D97-AF65-F5344CB8AC3E}">
        <p14:creationId xmlns:p14="http://schemas.microsoft.com/office/powerpoint/2010/main" val="303965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ct val="39285"/>
            </a:pPr>
            <a:r>
              <a:rPr lang="en-US" b="1" dirty="0"/>
              <a:t>The Relational Model</a:t>
            </a:r>
            <a:endParaRPr b="1" dirty="0"/>
          </a:p>
        </p:txBody>
      </p:sp>
      <p:sp>
        <p:nvSpPr>
          <p:cNvPr id="160" name="Google Shape;160;p2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965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buNone/>
            </a:pPr>
            <a:r>
              <a:rPr lang="en-GB" sz="3000" b="1" dirty="0"/>
              <a:t>Foreign Key</a:t>
            </a:r>
            <a:r>
              <a:rPr lang="en-GB" sz="3000" dirty="0"/>
              <a:t>: a field (or set of fields) in one relation that references the primary key of another relation, establishing a relationship and enforcing </a:t>
            </a:r>
            <a:r>
              <a:rPr lang="en-GB" sz="3000" b="1" dirty="0"/>
              <a:t>referential integrity</a:t>
            </a:r>
            <a:r>
              <a:rPr lang="en-GB" sz="3000" dirty="0"/>
              <a:t> between the two relations.</a:t>
            </a:r>
            <a:endParaRPr sz="3000" dirty="0"/>
          </a:p>
        </p:txBody>
      </p:sp>
      <p:sp>
        <p:nvSpPr>
          <p:cNvPr id="161" name="Google Shape;161;p2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875562"/>
            <a:ext cx="3429000" cy="2279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1D36B8-2711-855B-BE1B-231E0EC41079}"/>
              </a:ext>
            </a:extLst>
          </p:cNvPr>
          <p:cNvSpPr txBox="1"/>
          <p:nvPr/>
        </p:nvSpPr>
        <p:spPr>
          <a:xfrm>
            <a:off x="311700" y="6093544"/>
            <a:ext cx="14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Patient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B49686-B5CA-6BFD-BB47-279C58905778}"/>
              </a:ext>
            </a:extLst>
          </p:cNvPr>
          <p:cNvSpPr txBox="1"/>
          <p:nvPr/>
        </p:nvSpPr>
        <p:spPr>
          <a:xfrm>
            <a:off x="2514600" y="5638800"/>
            <a:ext cx="1766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Test 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D46955B-A8A4-40C7-0856-74FBA50AC395}"/>
              </a:ext>
            </a:extLst>
          </p:cNvPr>
          <p:cNvSpPr/>
          <p:nvPr/>
        </p:nvSpPr>
        <p:spPr>
          <a:xfrm>
            <a:off x="2743200" y="4188985"/>
            <a:ext cx="654783" cy="3048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33DD157-8DE3-5564-AF0F-5E1A5614DE48}"/>
              </a:ext>
            </a:extLst>
          </p:cNvPr>
          <p:cNvSpPr/>
          <p:nvPr/>
        </p:nvSpPr>
        <p:spPr>
          <a:xfrm>
            <a:off x="457200" y="3884185"/>
            <a:ext cx="654783" cy="3048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EFFB35-67C5-CDEB-5F68-8A534E48F3E6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V="1">
            <a:off x="3397983" y="3675528"/>
            <a:ext cx="793017" cy="66585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0BAB09-C952-0A4A-01F0-A97B978F5620}"/>
              </a:ext>
            </a:extLst>
          </p:cNvPr>
          <p:cNvSpPr txBox="1"/>
          <p:nvPr/>
        </p:nvSpPr>
        <p:spPr>
          <a:xfrm>
            <a:off x="4191000" y="3490862"/>
            <a:ext cx="127252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Foreign Key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0D9362-F6E3-7D45-8439-FC9E3E72BFBE}"/>
              </a:ext>
            </a:extLst>
          </p:cNvPr>
          <p:cNvSpPr txBox="1"/>
          <p:nvPr/>
        </p:nvSpPr>
        <p:spPr>
          <a:xfrm>
            <a:off x="4428274" y="3894700"/>
            <a:ext cx="458471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Referential integrity </a:t>
            </a:r>
            <a:r>
              <a:rPr lang="en-US" dirty="0"/>
              <a:t>is enforced, as only</a:t>
            </a:r>
          </a:p>
          <a:p>
            <a:r>
              <a:rPr lang="en-US" dirty="0"/>
              <a:t>those patient IDs that exist in the Patient</a:t>
            </a:r>
          </a:p>
          <a:p>
            <a:r>
              <a:rPr lang="en-US" dirty="0"/>
              <a:t>table could appear as foreign keys in the</a:t>
            </a:r>
          </a:p>
          <a:p>
            <a:r>
              <a:rPr lang="en-US" dirty="0"/>
              <a:t>Test Result table</a:t>
            </a:r>
          </a:p>
          <a:p>
            <a:endParaRPr lang="en-US" dirty="0"/>
          </a:p>
          <a:p>
            <a:r>
              <a:rPr lang="en-US" dirty="0"/>
              <a:t>Referential Integrity is enforced by an</a:t>
            </a:r>
          </a:p>
          <a:p>
            <a:r>
              <a:rPr lang="en-US" dirty="0"/>
              <a:t>RDBMS when, for example:</a:t>
            </a:r>
            <a:br>
              <a:rPr lang="en-US" dirty="0"/>
            </a:br>
            <a:r>
              <a:rPr lang="en-US" dirty="0"/>
              <a:t>- A patient is removed from the Patient table.</a:t>
            </a:r>
          </a:p>
          <a:p>
            <a:r>
              <a:rPr lang="en-US" dirty="0"/>
              <a:t>- A test result is added to the Test Result table. </a:t>
            </a:r>
          </a:p>
        </p:txBody>
      </p:sp>
    </p:spTree>
    <p:extLst>
      <p:ext uri="{BB962C8B-B14F-4D97-AF65-F5344CB8AC3E}">
        <p14:creationId xmlns:p14="http://schemas.microsoft.com/office/powerpoint/2010/main" val="34252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Relational Schema</a:t>
            </a:r>
            <a:endParaRPr b="1" dirty="0"/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580073" indent="-457200">
              <a:buSzPct val="100000"/>
            </a:pPr>
            <a:r>
              <a:rPr lang="en" dirty="0"/>
              <a:t>The name of a relation and its fields together is called the </a:t>
            </a:r>
            <a:r>
              <a:rPr lang="en" b="1" dirty="0"/>
              <a:t>schema </a:t>
            </a:r>
            <a:r>
              <a:rPr lang="en" dirty="0"/>
              <a:t>of that relation.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e.g. the schema for a Movies relation may be written as: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dirty="0"/>
              <a:t>         </a:t>
            </a:r>
            <a:r>
              <a:rPr lang="en" b="1" dirty="0"/>
              <a:t>                   Movies (</a:t>
            </a:r>
            <a:r>
              <a:rPr lang="en" b="1" u="sng" dirty="0"/>
              <a:t>title</a:t>
            </a:r>
            <a:r>
              <a:rPr lang="en" b="1" dirty="0"/>
              <a:t>, </a:t>
            </a:r>
            <a:r>
              <a:rPr lang="en" b="1" u="sng" dirty="0"/>
              <a:t>year</a:t>
            </a:r>
            <a:r>
              <a:rPr lang="en" b="1" dirty="0"/>
              <a:t>, length, genre)</a:t>
            </a:r>
            <a:r>
              <a:rPr lang="en" dirty="0"/>
              <a:t>  </a:t>
            </a:r>
          </a:p>
          <a:p>
            <a:pPr marL="1257300" lvl="2" indent="-342900">
              <a:spcBef>
                <a:spcPts val="1200"/>
              </a:spcBef>
              <a:buClr>
                <a:schemeClr val="dk1"/>
              </a:buClr>
              <a:buSzPct val="61111"/>
            </a:pPr>
            <a:r>
              <a:rPr lang="en" dirty="0"/>
              <a:t>The Movies table contains rows each of which have 4 columns, namely: title, year, length and genre (usually displayed in that order).</a:t>
            </a:r>
          </a:p>
          <a:p>
            <a:pPr marL="1257300" lvl="2" indent="-342900">
              <a:spcBef>
                <a:spcPts val="1200"/>
              </a:spcBef>
              <a:buClr>
                <a:schemeClr val="dk1"/>
              </a:buClr>
              <a:buSzPct val="61111"/>
            </a:pPr>
            <a:r>
              <a:rPr lang="en-GB" dirty="0"/>
              <a:t>title and year together are the </a:t>
            </a:r>
            <a:r>
              <a:rPr lang="en-GB" b="1" dirty="0"/>
              <a:t>primary key (composite)</a:t>
            </a:r>
            <a:r>
              <a:rPr lang="en-GB" dirty="0"/>
              <a:t>, i.e. the (title, year) combination uniquely identifies a row of the Movies table </a:t>
            </a:r>
            <a:endParaRPr dirty="0"/>
          </a:p>
          <a:p>
            <a:pPr marL="122873" lvl="0" indent="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endParaRPr lang="en" dirty="0"/>
          </a:p>
          <a:p>
            <a:pPr marL="580073" indent="-457200">
              <a:spcBef>
                <a:spcPts val="1200"/>
              </a:spcBef>
              <a:buSzPct val="100000"/>
            </a:pPr>
            <a:r>
              <a:rPr lang="en" dirty="0"/>
              <a:t>The collective schema of all relations of a database make up the </a:t>
            </a:r>
            <a:r>
              <a:rPr lang="en" b="1" dirty="0"/>
              <a:t>database schema</a:t>
            </a:r>
            <a:r>
              <a:rPr lang="en" dirty="0"/>
              <a:t>. </a:t>
            </a:r>
          </a:p>
          <a:p>
            <a:pPr marL="580073" indent="-457200">
              <a:spcBef>
                <a:spcPts val="1200"/>
              </a:spcBef>
              <a:buSzPct val="100000"/>
            </a:pPr>
            <a:r>
              <a:rPr lang="en" b="1" dirty="0"/>
              <a:t>In practice, </a:t>
            </a:r>
            <a:r>
              <a:rPr lang="en" dirty="0"/>
              <a:t>to create a relational database, a database administrator must specify the database scheme using SQL’s DDL (data definition language).</a:t>
            </a:r>
            <a:endParaRPr dirty="0"/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477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3EB3F-8843-F3F1-5B12-500F575B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Example: A simple HR database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47D4DDA-14B6-2FE2-8C40-137A7B57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53000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Employee </a:t>
            </a:r>
            <a:r>
              <a:rPr lang="en-GB" sz="2600" dirty="0">
                <a:effectLst/>
                <a:latin typeface="Helvetica" pitchFamily="2" charset="0"/>
              </a:rPr>
              <a:t>(fname, mint, lname, 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Department </a:t>
            </a:r>
            <a:r>
              <a:rPr lang="en-GB" sz="2600" dirty="0">
                <a:effectLst/>
                <a:latin typeface="Helvetica" pitchFamily="2" charset="0"/>
              </a:rPr>
              <a:t>(dname, </a:t>
            </a:r>
            <a:r>
              <a:rPr lang="en-GB" sz="2600" u="sng" dirty="0">
                <a:effectLst/>
                <a:latin typeface="Helvetica" pitchFamily="2" charset="0"/>
              </a:rPr>
              <a:t>dno</a:t>
            </a:r>
            <a:r>
              <a:rPr lang="en-GB" sz="26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Project</a:t>
            </a:r>
            <a:r>
              <a:rPr lang="en-GB" sz="2600" dirty="0">
                <a:effectLst/>
                <a:latin typeface="Helvetica" pitchFamily="2" charset="0"/>
              </a:rPr>
              <a:t> (pname,  </a:t>
            </a:r>
            <a:r>
              <a:rPr lang="en-GB" sz="2600" u="sng" dirty="0">
                <a:effectLst/>
                <a:latin typeface="Helvetica" pitchFamily="2" charset="0"/>
              </a:rPr>
              <a:t>pno</a:t>
            </a:r>
            <a:r>
              <a:rPr lang="en-GB" sz="26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WorksOn</a:t>
            </a:r>
            <a:r>
              <a:rPr lang="en-GB" sz="2600" dirty="0">
                <a:effectLst/>
                <a:latin typeface="Helvetica" pitchFamily="2" charset="0"/>
              </a:rPr>
              <a:t> (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</a:t>
            </a:r>
            <a:r>
              <a:rPr lang="en-GB" sz="2600" u="sng" dirty="0">
                <a:effectLst/>
                <a:latin typeface="Helvetica" pitchFamily="2" charset="0"/>
              </a:rPr>
              <a:t>pno</a:t>
            </a:r>
            <a:r>
              <a:rPr lang="en-GB" sz="26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6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600" b="1" dirty="0">
                <a:effectLst/>
                <a:latin typeface="Helvetica" pitchFamily="2" charset="0"/>
              </a:rPr>
              <a:t>Dependent</a:t>
            </a:r>
            <a:r>
              <a:rPr lang="en-GB" sz="2600" dirty="0">
                <a:effectLst/>
                <a:latin typeface="Helvetica" pitchFamily="2" charset="0"/>
              </a:rPr>
              <a:t>(</a:t>
            </a:r>
            <a:r>
              <a:rPr lang="en-GB" sz="2600" u="sng" dirty="0">
                <a:effectLst/>
                <a:latin typeface="Helvetica" pitchFamily="2" charset="0"/>
              </a:rPr>
              <a:t>empid</a:t>
            </a:r>
            <a:r>
              <a:rPr lang="en-GB" sz="2600" dirty="0">
                <a:effectLst/>
                <a:latin typeface="Helvetica" pitchFamily="2" charset="0"/>
              </a:rPr>
              <a:t>, </a:t>
            </a:r>
            <a:r>
              <a:rPr lang="en-GB" sz="2600" u="sng" dirty="0">
                <a:effectLst/>
                <a:latin typeface="Helvetica" pitchFamily="2" charset="0"/>
              </a:rPr>
              <a:t>depname</a:t>
            </a:r>
            <a:r>
              <a:rPr lang="en-GB" sz="2600" dirty="0">
                <a:effectLst/>
                <a:latin typeface="Helvetica" pitchFamily="2" charset="0"/>
              </a:rPr>
              <a:t>, gender, </a:t>
            </a:r>
            <a:r>
              <a:rPr lang="en-GB" sz="2600" u="sng" dirty="0">
                <a:effectLst/>
                <a:latin typeface="Helvetica" pitchFamily="2" charset="0"/>
              </a:rPr>
              <a:t>bdate</a:t>
            </a:r>
            <a:r>
              <a:rPr lang="en-GB" sz="26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36C26-8F22-F38F-9D80-BA0360ADE475}"/>
              </a:ext>
            </a:extLst>
          </p:cNvPr>
          <p:cNvSpPr txBox="1"/>
          <p:nvPr/>
        </p:nvSpPr>
        <p:spPr>
          <a:xfrm>
            <a:off x="5432946" y="1829345"/>
            <a:ext cx="3417602" cy="424731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Overall description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Employees work for departments. </a:t>
            </a:r>
          </a:p>
          <a:p>
            <a:r>
              <a:rPr lang="en-US" dirty="0"/>
              <a:t>Departments run projects. </a:t>
            </a:r>
          </a:p>
          <a:p>
            <a:r>
              <a:rPr lang="en-US" dirty="0"/>
              <a:t>Employees work on projects.</a:t>
            </a:r>
          </a:p>
          <a:p>
            <a:r>
              <a:rPr lang="en-US" dirty="0"/>
              <a:t>Employees have dependents. </a:t>
            </a:r>
          </a:p>
          <a:p>
            <a:endParaRPr lang="en-US" dirty="0"/>
          </a:p>
          <a:p>
            <a:r>
              <a:rPr lang="en-US" b="1" dirty="0"/>
              <a:t>Foreign keys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Employee.dno</a:t>
            </a:r>
            <a:endParaRPr lang="en-US" dirty="0"/>
          </a:p>
          <a:p>
            <a:r>
              <a:rPr lang="en-US" dirty="0" err="1"/>
              <a:t>Employee.superid</a:t>
            </a:r>
            <a:endParaRPr lang="en-US" dirty="0"/>
          </a:p>
          <a:p>
            <a:r>
              <a:rPr lang="en-US" dirty="0" err="1"/>
              <a:t>Department.mgrid</a:t>
            </a:r>
            <a:endParaRPr lang="en-US" dirty="0"/>
          </a:p>
          <a:p>
            <a:r>
              <a:rPr lang="en-US" dirty="0" err="1"/>
              <a:t>Project.dno</a:t>
            </a:r>
            <a:r>
              <a:rPr lang="en-US" dirty="0"/>
              <a:t> </a:t>
            </a:r>
          </a:p>
          <a:p>
            <a:r>
              <a:rPr lang="en-US" dirty="0" err="1"/>
              <a:t>WorksOn.empid</a:t>
            </a:r>
            <a:endParaRPr lang="en-US" dirty="0"/>
          </a:p>
          <a:p>
            <a:r>
              <a:rPr lang="en-US" dirty="0" err="1"/>
              <a:t>WorksOn.pno</a:t>
            </a:r>
            <a:endParaRPr lang="en-US" dirty="0"/>
          </a:p>
          <a:p>
            <a:r>
              <a:rPr lang="en-US" dirty="0" err="1"/>
              <a:t>Dependent.empid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5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Relational Operators</a:t>
            </a:r>
            <a:endParaRPr b="1" dirty="0"/>
          </a:p>
        </p:txBody>
      </p:sp>
      <p:sp>
        <p:nvSpPr>
          <p:cNvPr id="233" name="Google Shape;233;p36"/>
          <p:cNvSpPr txBox="1">
            <a:spLocks noGrp="1"/>
          </p:cNvSpPr>
          <p:nvPr>
            <p:ph type="body" idx="1"/>
          </p:nvPr>
        </p:nvSpPr>
        <p:spPr>
          <a:xfrm>
            <a:off x="311700" y="1151400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500" dirty="0"/>
          </a:p>
          <a:p>
            <a:pPr marL="342900"/>
            <a:r>
              <a:rPr lang="en" sz="2500" b="1" dirty="0"/>
              <a:t>Relational operators</a:t>
            </a:r>
            <a:r>
              <a:rPr lang="en" sz="2500" dirty="0"/>
              <a:t> operate on existing relations to produce new relations corresponding to user queries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2500" dirty="0"/>
          </a:p>
          <a:p>
            <a:pPr marL="342900"/>
            <a:r>
              <a:rPr lang="en-GB" sz="2500" dirty="0"/>
              <a:t>Relational operators maybe divided into two main categories:</a:t>
            </a:r>
            <a:endParaRPr sz="2500" dirty="0"/>
          </a:p>
        </p:txBody>
      </p:sp>
      <p:sp>
        <p:nvSpPr>
          <p:cNvPr id="234" name="Google Shape;234;p36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36"/>
          <p:cNvGraphicFramePr/>
          <p:nvPr>
            <p:extLst>
              <p:ext uri="{D42A27DB-BD31-4B8C-83A1-F6EECF244321}">
                <p14:modId xmlns:p14="http://schemas.microsoft.com/office/powerpoint/2010/main" val="1379945833"/>
              </p:ext>
            </p:extLst>
          </p:nvPr>
        </p:nvGraphicFramePr>
        <p:xfrm>
          <a:off x="669608" y="3369950"/>
          <a:ext cx="8077200" cy="31100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64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Set Operators</a:t>
                      </a:r>
                      <a:endParaRPr sz="2400" b="1" dirty="0"/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/>
                        <a:t>Database Operators</a:t>
                      </a:r>
                    </a:p>
                  </a:txBody>
                  <a:tcPr marL="91425" marR="91425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5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Union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Intersection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Difference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Cartesian Product</a:t>
                      </a:r>
                      <a:endParaRPr sz="2400" dirty="0"/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Select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Project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Join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Aggregate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Division</a:t>
                      </a:r>
                      <a:endParaRPr sz="24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dirty="0"/>
                        <a:t>Rename</a:t>
                      </a:r>
                    </a:p>
                  </a:txBody>
                  <a:tcPr marL="91425" marR="91425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831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Projection</a:t>
            </a:r>
            <a:endParaRPr b="1" dirty="0"/>
          </a:p>
        </p:txBody>
      </p:sp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Extracts certain columns from the table: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76" name="Google Shape;276;p4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362200"/>
            <a:ext cx="1857450" cy="15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0150" y="2133600"/>
            <a:ext cx="5991257" cy="29992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D619F0-6BE6-EA2B-038A-B09591212BEB}"/>
              </a:ext>
            </a:extLst>
          </p:cNvPr>
          <p:cNvSpPr txBox="1"/>
          <p:nvPr/>
        </p:nvSpPr>
        <p:spPr>
          <a:xfrm>
            <a:off x="311700" y="5219736"/>
            <a:ext cx="3955500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br>
              <a:rPr lang="en-US" dirty="0"/>
            </a:br>
            <a:r>
              <a:rPr lang="en-US" dirty="0"/>
              <a:t>SELECT A FROM r;</a:t>
            </a:r>
          </a:p>
          <a:p>
            <a:endParaRPr lang="en-US" dirty="0"/>
          </a:p>
          <a:p>
            <a:r>
              <a:rPr lang="en-US" dirty="0"/>
              <a:t>SELECT B, C FROM s;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E71E44-235F-23B3-2672-3F38AC642C73}"/>
              </a:ext>
            </a:extLst>
          </p:cNvPr>
          <p:cNvSpPr txBox="1"/>
          <p:nvPr/>
        </p:nvSpPr>
        <p:spPr>
          <a:xfrm>
            <a:off x="5105400" y="4495800"/>
            <a:ext cx="151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Semantics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D09AD-56DA-07BF-FFDC-4D46F6235D77}"/>
              </a:ext>
            </a:extLst>
          </p:cNvPr>
          <p:cNvSpPr txBox="1"/>
          <p:nvPr/>
        </p:nvSpPr>
        <p:spPr>
          <a:xfrm>
            <a:off x="4267200" y="6454401"/>
            <a:ext cx="40486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Bag Semantics (requires DISTINCT for set semantics)</a:t>
            </a:r>
          </a:p>
        </p:txBody>
      </p:sp>
    </p:spTree>
    <p:extLst>
      <p:ext uri="{BB962C8B-B14F-4D97-AF65-F5344CB8AC3E}">
        <p14:creationId xmlns:p14="http://schemas.microsoft.com/office/powerpoint/2010/main" val="393124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Union</a:t>
            </a:r>
            <a:endParaRPr b="1" dirty="0"/>
          </a:p>
        </p:txBody>
      </p:sp>
      <p:sp>
        <p:nvSpPr>
          <p:cNvPr id="242" name="Google Shape;242;p3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(r+s) or (r U 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must be union compatible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Duplicate rows are eliminated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43" name="Google Shape;243;p3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331325" y="5638800"/>
            <a:ext cx="84096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rgbClr val="212529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</a:t>
            </a:r>
            <a:endParaRPr dirty="0"/>
          </a:p>
        </p:txBody>
      </p:sp>
      <p:pic>
        <p:nvPicPr>
          <p:cNvPr id="245" name="Google Shape;24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21" y="3342134"/>
            <a:ext cx="4648200" cy="317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2FD2F51-CF1D-5816-DD4D-C2A55C1F9A6E}"/>
              </a:ext>
            </a:extLst>
          </p:cNvPr>
          <p:cNvSpPr/>
          <p:nvPr/>
        </p:nvSpPr>
        <p:spPr>
          <a:xfrm>
            <a:off x="903846" y="3705487"/>
            <a:ext cx="12954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AAA45-72D5-5652-E3F8-082F286D6969}"/>
              </a:ext>
            </a:extLst>
          </p:cNvPr>
          <p:cNvSpPr/>
          <p:nvPr/>
        </p:nvSpPr>
        <p:spPr>
          <a:xfrm>
            <a:off x="3371096" y="3990676"/>
            <a:ext cx="1295400" cy="3048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30197D00-AFC3-E446-D03D-6E457646A244}"/>
              </a:ext>
            </a:extLst>
          </p:cNvPr>
          <p:cNvCxnSpPr>
            <a:cxnSpLocks/>
            <a:stCxn id="2" idx="1"/>
          </p:cNvCxnSpPr>
          <p:nvPr/>
        </p:nvCxnSpPr>
        <p:spPr>
          <a:xfrm rot="10800000" flipH="1" flipV="1">
            <a:off x="903845" y="3857887"/>
            <a:ext cx="831967" cy="1358534"/>
          </a:xfrm>
          <a:prstGeom prst="curvedConnector4">
            <a:avLst>
              <a:gd name="adj1" fmla="val -27477"/>
              <a:gd name="adj2" fmla="val 10282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0D075A19-8840-14EA-44DE-FD6F67ED4251}"/>
              </a:ext>
            </a:extLst>
          </p:cNvPr>
          <p:cNvCxnSpPr>
            <a:cxnSpLocks/>
            <a:stCxn id="4" idx="3"/>
          </p:cNvCxnSpPr>
          <p:nvPr/>
        </p:nvCxnSpPr>
        <p:spPr>
          <a:xfrm flipH="1">
            <a:off x="2963571" y="4143077"/>
            <a:ext cx="1702925" cy="1073344"/>
          </a:xfrm>
          <a:prstGeom prst="curvedConnector3">
            <a:avLst>
              <a:gd name="adj1" fmla="val -134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D06D9AA-8EC5-2311-89AA-A247EC8A586E}"/>
              </a:ext>
            </a:extLst>
          </p:cNvPr>
          <p:cNvSpPr txBox="1"/>
          <p:nvPr/>
        </p:nvSpPr>
        <p:spPr>
          <a:xfrm>
            <a:off x="4516958" y="5163862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UNION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3575890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Intersection</a:t>
            </a:r>
            <a:endParaRPr b="1" dirty="0"/>
          </a:p>
        </p:txBody>
      </p:sp>
      <p:sp>
        <p:nvSpPr>
          <p:cNvPr id="259" name="Google Shape;259;p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 </a:t>
            </a:r>
            <a:r>
              <a:rPr lang="en" sz="3000" dirty="0">
                <a:solidFill>
                  <a:srgbClr val="202124"/>
                </a:solidFill>
                <a:highlight>
                  <a:srgbClr val="FFFFFF"/>
                </a:highlight>
              </a:rPr>
              <a:t>∩</a:t>
            </a:r>
            <a:r>
              <a:rPr lang="en" sz="1200" dirty="0">
                <a:solidFill>
                  <a:srgbClr val="202124"/>
                </a:solidFill>
                <a:highlight>
                  <a:srgbClr val="FFFFFF"/>
                </a:highlight>
              </a:rPr>
              <a:t> </a:t>
            </a:r>
            <a:r>
              <a:rPr lang="en" dirty="0"/>
              <a:t>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must be intersection compatible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60" name="Google Shape;260;p39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90800"/>
            <a:ext cx="6031236" cy="31818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2FB6D2-9756-6029-F244-737902084B26}"/>
              </a:ext>
            </a:extLst>
          </p:cNvPr>
          <p:cNvSpPr/>
          <p:nvPr/>
        </p:nvSpPr>
        <p:spPr>
          <a:xfrm>
            <a:off x="939875" y="3138795"/>
            <a:ext cx="1752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FA603A-E56E-1591-90CB-ACF41E6E8D7B}"/>
              </a:ext>
            </a:extLst>
          </p:cNvPr>
          <p:cNvSpPr/>
          <p:nvPr/>
        </p:nvSpPr>
        <p:spPr>
          <a:xfrm>
            <a:off x="4330777" y="3519795"/>
            <a:ext cx="17526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75AC9843-C486-3A97-B97A-DBAC9ECCE23E}"/>
              </a:ext>
            </a:extLst>
          </p:cNvPr>
          <p:cNvCxnSpPr>
            <a:stCxn id="2" idx="1"/>
          </p:cNvCxnSpPr>
          <p:nvPr/>
        </p:nvCxnSpPr>
        <p:spPr>
          <a:xfrm rot="10800000" flipH="1" flipV="1">
            <a:off x="939875" y="3367395"/>
            <a:ext cx="1143000" cy="1981200"/>
          </a:xfrm>
          <a:prstGeom prst="curvedConnector4">
            <a:avLst>
              <a:gd name="adj1" fmla="val -20000"/>
              <a:gd name="adj2" fmla="val 10674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10CF6EF0-EDC7-A6E7-8E50-9253A1AEFAD3}"/>
              </a:ext>
            </a:extLst>
          </p:cNvPr>
          <p:cNvCxnSpPr>
            <a:cxnSpLocks/>
            <a:stCxn id="3" idx="3"/>
          </p:cNvCxnSpPr>
          <p:nvPr/>
        </p:nvCxnSpPr>
        <p:spPr>
          <a:xfrm flipH="1">
            <a:off x="3759275" y="3748395"/>
            <a:ext cx="2324102" cy="1600200"/>
          </a:xfrm>
          <a:prstGeom prst="curvedConnector3">
            <a:avLst>
              <a:gd name="adj1" fmla="val -98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167111-E7C5-3404-E161-1733C7ECE58F}"/>
              </a:ext>
            </a:extLst>
          </p:cNvPr>
          <p:cNvSpPr txBox="1"/>
          <p:nvPr/>
        </p:nvSpPr>
        <p:spPr>
          <a:xfrm>
            <a:off x="4365186" y="5499823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INTERSECT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77837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Difference</a:t>
            </a:r>
            <a:endParaRPr b="1" dirty="0"/>
          </a:p>
        </p:txBody>
      </p:sp>
      <p:sp>
        <p:nvSpPr>
          <p:cNvPr id="251" name="Google Shape;251;p3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(r-s)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Relations have to be difference compatible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Includes rows that are in r but not in s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52" name="Google Shape;252;p38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12" y="3170486"/>
            <a:ext cx="5446034" cy="35525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9CD097-1E1C-9968-E542-5D8EAEA502FF}"/>
              </a:ext>
            </a:extLst>
          </p:cNvPr>
          <p:cNvSpPr/>
          <p:nvPr/>
        </p:nvSpPr>
        <p:spPr>
          <a:xfrm>
            <a:off x="853111" y="3852785"/>
            <a:ext cx="1524000" cy="300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375D40-F1E0-1D49-DEC7-3CC6E62B603C}"/>
              </a:ext>
            </a:extLst>
          </p:cNvPr>
          <p:cNvSpPr/>
          <p:nvPr/>
        </p:nvSpPr>
        <p:spPr>
          <a:xfrm>
            <a:off x="3901111" y="4153352"/>
            <a:ext cx="15240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635BEC-7D13-979E-982C-9EEEA5D8A59D}"/>
              </a:ext>
            </a:extLst>
          </p:cNvPr>
          <p:cNvSpPr txBox="1"/>
          <p:nvPr/>
        </p:nvSpPr>
        <p:spPr>
          <a:xfrm>
            <a:off x="4365186" y="5499823"/>
            <a:ext cx="3955500" cy="1200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Corresponding SQL:</a:t>
            </a:r>
          </a:p>
          <a:p>
            <a:r>
              <a:rPr lang="en-US" dirty="0"/>
              <a:t>SELECT * FROM r</a:t>
            </a:r>
          </a:p>
          <a:p>
            <a:r>
              <a:rPr lang="en-US" dirty="0"/>
              <a:t>EXCEPT</a:t>
            </a:r>
          </a:p>
          <a:p>
            <a:r>
              <a:rPr lang="en-US" dirty="0"/>
              <a:t>SELECT * FROM s;</a:t>
            </a:r>
          </a:p>
        </p:txBody>
      </p:sp>
    </p:spTree>
    <p:extLst>
      <p:ext uri="{BB962C8B-B14F-4D97-AF65-F5344CB8AC3E}">
        <p14:creationId xmlns:p14="http://schemas.microsoft.com/office/powerpoint/2010/main" val="3044369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Union, Intersection, Difference and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28600" y="1600200"/>
                <a:ext cx="4343400" cy="51054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ids of all employees who are working on some project.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who are not working on any project.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 sz="26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6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GB" sz="26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who are working on a project and have a dependent.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Dependent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28600" y="1600200"/>
                <a:ext cx="4343400" cy="5105400"/>
              </a:xfrm>
              <a:blipFill>
                <a:blip r:embed="rId3"/>
                <a:stretch>
                  <a:fillRect l="-1170" t="-4229" b="-208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263" y="1610520"/>
            <a:ext cx="4038600" cy="32004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00A82-44D7-AC87-C2CC-3CC7909D2AE4}"/>
              </a:ext>
            </a:extLst>
          </p:cNvPr>
          <p:cNvSpPr txBox="1"/>
          <p:nvPr/>
        </p:nvSpPr>
        <p:spPr>
          <a:xfrm>
            <a:off x="2286000" y="2115234"/>
            <a:ext cx="190500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empid </a:t>
            </a:r>
          </a:p>
          <a:p>
            <a:r>
              <a:rPr lang="en-US" dirty="0"/>
              <a:t>FROM WorksOn;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3996CC-01C8-0C44-3F82-397C7CB8AB86}"/>
              </a:ext>
            </a:extLst>
          </p:cNvPr>
          <p:cNvSpPr txBox="1"/>
          <p:nvPr/>
        </p:nvSpPr>
        <p:spPr>
          <a:xfrm>
            <a:off x="609600" y="4345843"/>
            <a:ext cx="3105787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empid FROM Employee</a:t>
            </a:r>
          </a:p>
          <a:p>
            <a:r>
              <a:rPr lang="en-US" dirty="0"/>
              <a:t>EXCEPT</a:t>
            </a:r>
          </a:p>
          <a:p>
            <a:r>
              <a:rPr lang="en-US" dirty="0"/>
              <a:t>SELECT empid FROM WorksOn;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DC059-82F0-33E8-DC5D-D3402A59C0A2}"/>
              </a:ext>
            </a:extLst>
          </p:cNvPr>
          <p:cNvSpPr txBox="1"/>
          <p:nvPr/>
        </p:nvSpPr>
        <p:spPr>
          <a:xfrm>
            <a:off x="4191000" y="5782270"/>
            <a:ext cx="3293402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empid FROM WorksOn</a:t>
            </a:r>
          </a:p>
          <a:p>
            <a:r>
              <a:rPr lang="en-US" dirty="0"/>
              <a:t>INTERSECT</a:t>
            </a:r>
          </a:p>
          <a:p>
            <a:r>
              <a:rPr lang="en-US" dirty="0"/>
              <a:t>SELECT empid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08579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Union, Intersection, Difference and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114800" cy="5105400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ids of all supervisors who either have dependents or are working on a project or both.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super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are the supervisors who are working on a project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super</m:t>
                          </m:r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Employee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∩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Dependent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these are are the supervisors who have dependents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 ∪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114800" cy="5105400"/>
              </a:xfrm>
              <a:blipFill>
                <a:blip r:embed="rId3"/>
                <a:stretch>
                  <a:fillRect l="-3704" t="-1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7770" y="1676400"/>
            <a:ext cx="4009030" cy="3113418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Employee </a:t>
            </a:r>
            <a:r>
              <a:rPr lang="en-GB" dirty="0">
                <a:effectLst/>
                <a:latin typeface="Helvetica" pitchFamily="2" charset="0"/>
              </a:rPr>
              <a:t>(fname, mint, lname, 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Department </a:t>
            </a:r>
            <a:r>
              <a:rPr lang="en-GB" dirty="0">
                <a:effectLst/>
                <a:latin typeface="Helvetica" pitchFamily="2" charset="0"/>
              </a:rPr>
              <a:t>(dname, </a:t>
            </a:r>
            <a:r>
              <a:rPr lang="en-GB" u="sng" dirty="0">
                <a:effectLst/>
                <a:latin typeface="Helvetica" pitchFamily="2" charset="0"/>
              </a:rPr>
              <a:t>dno</a:t>
            </a:r>
            <a:r>
              <a:rPr lang="en-GB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Project</a:t>
            </a:r>
            <a:r>
              <a:rPr lang="en-GB" dirty="0">
                <a:effectLst/>
                <a:latin typeface="Helvetica" pitchFamily="2" charset="0"/>
              </a:rPr>
              <a:t> (pname,  </a:t>
            </a:r>
            <a:r>
              <a:rPr lang="en-GB" u="sng" dirty="0">
                <a:effectLst/>
                <a:latin typeface="Helvetica" pitchFamily="2" charset="0"/>
              </a:rPr>
              <a:t>pno</a:t>
            </a:r>
            <a:r>
              <a:rPr lang="en-GB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WorksOn</a:t>
            </a:r>
            <a:r>
              <a:rPr lang="en-GB" dirty="0">
                <a:effectLst/>
                <a:latin typeface="Helvetica" pitchFamily="2" charset="0"/>
              </a:rPr>
              <a:t> (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u="sng" dirty="0">
                <a:effectLst/>
                <a:latin typeface="Helvetica" pitchFamily="2" charset="0"/>
              </a:rPr>
              <a:t>pno</a:t>
            </a:r>
            <a:r>
              <a:rPr lang="en-GB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b="1" dirty="0">
                <a:effectLst/>
                <a:latin typeface="Helvetica" pitchFamily="2" charset="0"/>
              </a:rPr>
              <a:t>Dependent</a:t>
            </a:r>
            <a:r>
              <a:rPr lang="en-GB" dirty="0">
                <a:effectLst/>
                <a:latin typeface="Helvetica" pitchFamily="2" charset="0"/>
              </a:rPr>
              <a:t>(</a:t>
            </a:r>
            <a:r>
              <a:rPr lang="en-GB" u="sng" dirty="0">
                <a:effectLst/>
                <a:latin typeface="Helvetica" pitchFamily="2" charset="0"/>
              </a:rPr>
              <a:t>empid</a:t>
            </a:r>
            <a:r>
              <a:rPr lang="en-GB" dirty="0">
                <a:effectLst/>
                <a:latin typeface="Helvetica" pitchFamily="2" charset="0"/>
              </a:rPr>
              <a:t>, </a:t>
            </a:r>
            <a:r>
              <a:rPr lang="en-GB" u="sng" dirty="0">
                <a:effectLst/>
                <a:latin typeface="Helvetica" pitchFamily="2" charset="0"/>
              </a:rPr>
              <a:t>depname</a:t>
            </a:r>
            <a:r>
              <a:rPr lang="en-GB" dirty="0">
                <a:effectLst/>
                <a:latin typeface="Helvetica" pitchFamily="2" charset="0"/>
              </a:rPr>
              <a:t>, gender, </a:t>
            </a:r>
            <a:r>
              <a:rPr lang="en-GB" u="sng" dirty="0">
                <a:effectLst/>
                <a:latin typeface="Helvetica" pitchFamily="2" charset="0"/>
              </a:rPr>
              <a:t>bdate</a:t>
            </a:r>
            <a:r>
              <a:rPr lang="en-GB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747A3-6643-B8D7-EB89-8E3107527126}"/>
              </a:ext>
            </a:extLst>
          </p:cNvPr>
          <p:cNvSpPr txBox="1"/>
          <p:nvPr/>
        </p:nvSpPr>
        <p:spPr>
          <a:xfrm>
            <a:off x="3657600" y="4845756"/>
            <a:ext cx="2438400" cy="189282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300" dirty="0"/>
              <a:t>SELECT empid FROM WorksOn</a:t>
            </a:r>
          </a:p>
          <a:p>
            <a:r>
              <a:rPr lang="en-US" sz="1300" dirty="0"/>
              <a:t>INTERSECT</a:t>
            </a:r>
          </a:p>
          <a:p>
            <a:r>
              <a:rPr lang="en-US" sz="1300" dirty="0"/>
              <a:t>SELECT </a:t>
            </a:r>
            <a:r>
              <a:rPr lang="en-US" sz="1300" dirty="0" err="1"/>
              <a:t>superid</a:t>
            </a:r>
            <a:r>
              <a:rPr lang="en-US" sz="1300" dirty="0"/>
              <a:t> FROM Employee</a:t>
            </a:r>
          </a:p>
          <a:p>
            <a:endParaRPr lang="en-US" sz="1300" dirty="0"/>
          </a:p>
          <a:p>
            <a:r>
              <a:rPr lang="en-US" sz="1300" dirty="0"/>
              <a:t>UNION</a:t>
            </a:r>
          </a:p>
          <a:p>
            <a:endParaRPr lang="en-US" sz="1300" dirty="0"/>
          </a:p>
          <a:p>
            <a:r>
              <a:rPr lang="en-US" sz="1300" dirty="0"/>
              <a:t>SELECT </a:t>
            </a:r>
            <a:r>
              <a:rPr lang="en-US" sz="1300" dirty="0" err="1"/>
              <a:t>superid</a:t>
            </a:r>
            <a:r>
              <a:rPr lang="en-US" sz="1300" dirty="0"/>
              <a:t> FROM Employee</a:t>
            </a:r>
          </a:p>
          <a:p>
            <a:r>
              <a:rPr lang="en-US" sz="1300" dirty="0"/>
              <a:t>INTERSECT</a:t>
            </a:r>
          </a:p>
          <a:p>
            <a:r>
              <a:rPr lang="en-US" sz="1300" dirty="0"/>
              <a:t>SELECT empid FROM Dependent;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9CC2A-D6DF-EE24-55B6-A70BCEF5A98F}"/>
              </a:ext>
            </a:extLst>
          </p:cNvPr>
          <p:cNvSpPr txBox="1"/>
          <p:nvPr/>
        </p:nvSpPr>
        <p:spPr>
          <a:xfrm>
            <a:off x="6096000" y="6369250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337055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Conditional Selection</a:t>
            </a:r>
            <a:endParaRPr b="1" dirty="0"/>
          </a:p>
        </p:txBody>
      </p:sp>
      <p:sp>
        <p:nvSpPr>
          <p:cNvPr id="284" name="Google Shape;284;p4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" dirty="0"/>
              <a:t>The selection operator extracts certain rows from the table and discards the others. Retrieved tuples must satisfy a given </a:t>
            </a:r>
            <a:r>
              <a:rPr lang="en" b="1" dirty="0"/>
              <a:t>filtering condition</a:t>
            </a:r>
            <a:r>
              <a:rPr lang="en" dirty="0"/>
              <a:t>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86" name="Google Shape;2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81" y="3200400"/>
            <a:ext cx="4038600" cy="346582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071C06-BC23-9D98-B063-22748228D48E}"/>
              </a:ext>
            </a:extLst>
          </p:cNvPr>
          <p:cNvSpPr txBox="1"/>
          <p:nvPr/>
        </p:nvSpPr>
        <p:spPr>
          <a:xfrm>
            <a:off x="4782177" y="4153639"/>
            <a:ext cx="39555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*</a:t>
            </a:r>
          </a:p>
          <a:p>
            <a:r>
              <a:rPr lang="en-US" sz="2000" dirty="0"/>
              <a:t>FROM r</a:t>
            </a:r>
          </a:p>
          <a:p>
            <a:r>
              <a:rPr lang="en-US" sz="2000" dirty="0"/>
              <a:t>WHERE B &gt;= 620 AND C &lt; 4;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DCDCDD-F0BF-426B-F77A-41A8F665DA81}"/>
              </a:ext>
            </a:extLst>
          </p:cNvPr>
          <p:cNvSpPr txBox="1"/>
          <p:nvPr/>
        </p:nvSpPr>
        <p:spPr>
          <a:xfrm>
            <a:off x="4725462" y="5156792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143425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/>
              <a:t>Queries Using Union, Intersection, Difference, Projection and Conditional Selection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724400" cy="4983162"/>
              </a:xfrm>
            </p:spPr>
            <p:txBody>
              <a:bodyPr>
                <a:normAutofit fontScale="400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names and genders of all employees with a salary of at least 80, 000 pounds.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gender</m:t>
                          </m:r>
                        </m:sub>
                        <m:sup/>
                        <m:e>
                          <m:r>
                            <a:rPr lang="en-US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𝑠𝑎𝑙𝑎𝑟𝑦</m:t>
                              </m:r>
                              <m:r>
                                <a:rPr lang="en-US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GB" sz="25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80000</m:t>
                              </m:r>
                            </m:sub>
                          </m:sSub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𝐸𝑚𝑝𝑙𝑜𝑦𝑒𝑒</m:t>
                          </m:r>
                          <m:r>
                            <a:rPr lang="en-GB" sz="2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  <m:r>
                            <a:rPr lang="en-US" sz="25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List the ids of all employees with a salary of at least 80, 000 pounds who are not working on any project.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𝑠𝑎𝑙𝑎𝑟𝑦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≥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80000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𝐸𝑚𝑝𝑙𝑜𝑦𝑒𝑒</m:t>
                              </m:r>
                            </m:e>
                          </m:d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empid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WorksOn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i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724400" cy="4983162"/>
              </a:xfrm>
              <a:blipFill>
                <a:blip r:embed="rId3"/>
                <a:stretch>
                  <a:fillRect t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38800" y="1600200"/>
            <a:ext cx="3200400" cy="2438400"/>
          </a:xfrm>
          <a:ln>
            <a:solidFill>
              <a:schemeClr val="tx1"/>
            </a:solidFill>
          </a:ln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0DD66-28DB-DD00-7558-A1A19AD693CA}"/>
              </a:ext>
            </a:extLst>
          </p:cNvPr>
          <p:cNvSpPr txBox="1"/>
          <p:nvPr/>
        </p:nvSpPr>
        <p:spPr>
          <a:xfrm>
            <a:off x="1295400" y="2667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00BD8-ADDD-91BC-DD3C-228273F7D702}"/>
              </a:ext>
            </a:extLst>
          </p:cNvPr>
          <p:cNvSpPr txBox="1"/>
          <p:nvPr/>
        </p:nvSpPr>
        <p:spPr>
          <a:xfrm>
            <a:off x="762000" y="2683321"/>
            <a:ext cx="39555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</a:t>
            </a:r>
            <a:r>
              <a:rPr lang="en-US" sz="2000" dirty="0" err="1"/>
              <a:t>fname</a:t>
            </a:r>
            <a:r>
              <a:rPr lang="en-US" sz="2000" dirty="0"/>
              <a:t>, mint, </a:t>
            </a:r>
            <a:r>
              <a:rPr lang="en-US" sz="2000" dirty="0" err="1"/>
              <a:t>lname</a:t>
            </a:r>
            <a:r>
              <a:rPr lang="en-US" sz="2000" dirty="0"/>
              <a:t>, gender</a:t>
            </a:r>
          </a:p>
          <a:p>
            <a:r>
              <a:rPr lang="en-US" sz="2000" dirty="0"/>
              <a:t>FROM Employee</a:t>
            </a:r>
          </a:p>
          <a:p>
            <a:r>
              <a:rPr lang="en-US" sz="2000" dirty="0"/>
              <a:t>WHERE salary &gt;= 80000;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6144E0-839A-12FB-4C84-C368658030CD}"/>
              </a:ext>
            </a:extLst>
          </p:cNvPr>
          <p:cNvSpPr txBox="1"/>
          <p:nvPr/>
        </p:nvSpPr>
        <p:spPr>
          <a:xfrm>
            <a:off x="5029200" y="4101890"/>
            <a:ext cx="3955500" cy="2554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empid</a:t>
            </a:r>
          </a:p>
          <a:p>
            <a:r>
              <a:rPr lang="en-US" sz="2000" dirty="0"/>
              <a:t>FROM EMPLOYEE</a:t>
            </a:r>
          </a:p>
          <a:p>
            <a:r>
              <a:rPr lang="en-US" sz="2000" dirty="0"/>
              <a:t>WHERE </a:t>
            </a:r>
            <a:r>
              <a:rPr lang="en-US" sz="2000" dirty="0" err="1"/>
              <a:t>salaray</a:t>
            </a:r>
            <a:r>
              <a:rPr lang="en-US" sz="2000" dirty="0"/>
              <a:t> &gt;= 80000</a:t>
            </a:r>
          </a:p>
          <a:p>
            <a:endParaRPr lang="en-US" sz="2000" dirty="0"/>
          </a:p>
          <a:p>
            <a:r>
              <a:rPr lang="en-US" sz="2000" dirty="0"/>
              <a:t>EXCEPT</a:t>
            </a:r>
          </a:p>
          <a:p>
            <a:endParaRPr lang="en-US" sz="2000" dirty="0"/>
          </a:p>
          <a:p>
            <a:r>
              <a:rPr lang="en-US" sz="2000" dirty="0"/>
              <a:t>SELECT empid</a:t>
            </a:r>
          </a:p>
          <a:p>
            <a:r>
              <a:rPr lang="en-US" sz="2000" dirty="0"/>
              <a:t>FROM WorksOn</a:t>
            </a:r>
          </a:p>
        </p:txBody>
      </p:sp>
    </p:spTree>
    <p:extLst>
      <p:ext uri="{BB962C8B-B14F-4D97-AF65-F5344CB8AC3E}">
        <p14:creationId xmlns:p14="http://schemas.microsoft.com/office/powerpoint/2010/main" val="267068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Cross Product (or Cross Join)</a:t>
            </a:r>
            <a:endParaRPr b="1" dirty="0"/>
          </a:p>
        </p:txBody>
      </p:sp>
      <p:sp>
        <p:nvSpPr>
          <p:cNvPr id="267" name="Google Shape;267;p4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Written as (r </a:t>
            </a:r>
            <a:r>
              <a:rPr lang="en" sz="1200" dirty="0">
                <a:solidFill>
                  <a:srgbClr val="202124"/>
                </a:solidFill>
                <a:highlight>
                  <a:srgbClr val="FFFFFF"/>
                </a:highlight>
              </a:rPr>
              <a:t>X  </a:t>
            </a:r>
            <a:r>
              <a:rPr lang="en" dirty="0"/>
              <a:t>s)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Concatenates rows from two relations, making all possible combinations of rows.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3303199"/>
            <a:ext cx="5374501" cy="27886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2D72C1-B291-A0B5-FC96-24367C9B2762}"/>
              </a:ext>
            </a:extLst>
          </p:cNvPr>
          <p:cNvSpPr/>
          <p:nvPr/>
        </p:nvSpPr>
        <p:spPr>
          <a:xfrm>
            <a:off x="1131240" y="3899499"/>
            <a:ext cx="13716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E2131-4482-D45D-D9C0-356C09D83A64}"/>
              </a:ext>
            </a:extLst>
          </p:cNvPr>
          <p:cNvSpPr/>
          <p:nvPr/>
        </p:nvSpPr>
        <p:spPr>
          <a:xfrm>
            <a:off x="3302940" y="3886200"/>
            <a:ext cx="2259659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2F32F5-F4EB-C5C0-D91C-FC332C04323C}"/>
              </a:ext>
            </a:extLst>
          </p:cNvPr>
          <p:cNvSpPr/>
          <p:nvPr/>
        </p:nvSpPr>
        <p:spPr>
          <a:xfrm>
            <a:off x="1160060" y="5410199"/>
            <a:ext cx="897340" cy="6096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D812E3-3260-48B2-E335-9E2E07C92AAF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502840" y="4051899"/>
            <a:ext cx="800100" cy="1391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80D488-F714-7B66-9EFD-217A7A551C5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2057400" y="4191000"/>
            <a:ext cx="1245540" cy="1524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FCEC1D1-E3C8-A742-EDE7-D37FF6257BF6}"/>
              </a:ext>
            </a:extLst>
          </p:cNvPr>
          <p:cNvSpPr/>
          <p:nvPr/>
        </p:nvSpPr>
        <p:spPr>
          <a:xfrm>
            <a:off x="1131240" y="4204300"/>
            <a:ext cx="1371600" cy="2782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C3BB19-B8DB-5474-6EF9-A8B1CF99E5D0}"/>
              </a:ext>
            </a:extLst>
          </p:cNvPr>
          <p:cNvSpPr/>
          <p:nvPr/>
        </p:nvSpPr>
        <p:spPr>
          <a:xfrm>
            <a:off x="3302940" y="4535697"/>
            <a:ext cx="2259658" cy="5431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67A7BE-A9EB-8776-A598-619C1BF94F34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2502840" y="4343401"/>
            <a:ext cx="800100" cy="4638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FA90F9-FFF4-1493-65FC-81C65B182184}"/>
              </a:ext>
            </a:extLst>
          </p:cNvPr>
          <p:cNvCxnSpPr>
            <a:stCxn id="4" idx="3"/>
          </p:cNvCxnSpPr>
          <p:nvPr/>
        </p:nvCxnSpPr>
        <p:spPr>
          <a:xfrm flipV="1">
            <a:off x="2057400" y="4807249"/>
            <a:ext cx="1245540" cy="9077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B27B40-4A9A-9C6D-E7B6-7EF7B33CCCDF}"/>
              </a:ext>
            </a:extLst>
          </p:cNvPr>
          <p:cNvSpPr/>
          <p:nvPr/>
        </p:nvSpPr>
        <p:spPr>
          <a:xfrm>
            <a:off x="1131240" y="4482502"/>
            <a:ext cx="1371600" cy="3247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E7EBD0-6E62-6CAB-6767-19CA48289757}"/>
              </a:ext>
            </a:extLst>
          </p:cNvPr>
          <p:cNvSpPr/>
          <p:nvPr/>
        </p:nvSpPr>
        <p:spPr>
          <a:xfrm>
            <a:off x="3302940" y="5078801"/>
            <a:ext cx="2259658" cy="6361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38E321-7BE0-24B2-864C-47F0584FD928}"/>
              </a:ext>
            </a:extLst>
          </p:cNvPr>
          <p:cNvCxnSpPr>
            <a:stCxn id="20" idx="3"/>
          </p:cNvCxnSpPr>
          <p:nvPr/>
        </p:nvCxnSpPr>
        <p:spPr>
          <a:xfrm>
            <a:off x="2502840" y="4644876"/>
            <a:ext cx="800100" cy="76532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2CA662-F001-37CD-EB6F-4E8DF59EB704}"/>
              </a:ext>
            </a:extLst>
          </p:cNvPr>
          <p:cNvCxnSpPr>
            <a:stCxn id="4" idx="3"/>
          </p:cNvCxnSpPr>
          <p:nvPr/>
        </p:nvCxnSpPr>
        <p:spPr>
          <a:xfrm flipV="1">
            <a:off x="2057400" y="5410199"/>
            <a:ext cx="1245540" cy="3048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E13246B-6569-2070-E7E4-F9A077501E82}"/>
              </a:ext>
            </a:extLst>
          </p:cNvPr>
          <p:cNvSpPr txBox="1"/>
          <p:nvPr/>
        </p:nvSpPr>
        <p:spPr>
          <a:xfrm>
            <a:off x="5806358" y="4225061"/>
            <a:ext cx="3155400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SELECT *</a:t>
            </a:r>
          </a:p>
          <a:p>
            <a:r>
              <a:rPr lang="en-US" sz="2000" dirty="0"/>
              <a:t>FROM r2, s2;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E34B2B-23A7-4EC3-0375-C3006F228CAD}"/>
              </a:ext>
            </a:extLst>
          </p:cNvPr>
          <p:cNvSpPr txBox="1"/>
          <p:nvPr/>
        </p:nvSpPr>
        <p:spPr>
          <a:xfrm>
            <a:off x="5806358" y="5027537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154571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9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2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8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44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9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2" dur="indefinite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5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58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61" dur="indefinite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9" presetClass="emph" presetSubtype="0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4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4" grpId="2" animBg="1"/>
      <p:bldP spid="4" grpId="3" animBg="1"/>
      <p:bldP spid="4" grpId="4" animBg="1"/>
      <p:bldP spid="4" grpId="5" animBg="1"/>
      <p:bldP spid="4" grpId="6" animBg="1"/>
      <p:bldP spid="11" grpId="0" animBg="1"/>
      <p:bldP spid="11" grpId="1" animBg="1"/>
      <p:bldP spid="14" grpId="0" animBg="1"/>
      <p:bldP spid="14" grpId="1" animBg="1"/>
      <p:bldP spid="20" grpId="0" animBg="1"/>
      <p:bldP spid="2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Join (or inner join)</a:t>
            </a:r>
            <a:endParaRPr b="1" dirty="0"/>
          </a:p>
        </p:txBody>
      </p:sp>
      <p:sp>
        <p:nvSpPr>
          <p:cNvPr id="292" name="Google Shape;292;p43"/>
          <p:cNvSpPr txBox="1">
            <a:spLocks noGrp="1"/>
          </p:cNvSpPr>
          <p:nvPr>
            <p:ph type="body" idx="1"/>
          </p:nvPr>
        </p:nvSpPr>
        <p:spPr>
          <a:xfrm>
            <a:off x="311700" y="1345594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en" dirty="0"/>
              <a:t>The join operation, denoted by </a:t>
            </a:r>
            <a:r>
              <a:rPr lang="en" b="1" dirty="0"/>
              <a:t>(r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COND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 )</a:t>
            </a:r>
            <a:r>
              <a:rPr lang="en" dirty="0"/>
              <a:t>, is used to combine </a:t>
            </a:r>
            <a:r>
              <a:rPr lang="en" i="1" dirty="0"/>
              <a:t>related tuples</a:t>
            </a:r>
            <a:r>
              <a:rPr lang="en" dirty="0"/>
              <a:t> from two relations.</a:t>
            </a:r>
            <a:endParaRPr dirty="0"/>
          </a:p>
          <a:p>
            <a:pPr lvl="0"/>
            <a:r>
              <a:rPr lang="en" dirty="0"/>
              <a:t>Here COND is the matching condition </a:t>
            </a:r>
            <a:r>
              <a:rPr lang="en" b="1" dirty="0"/>
              <a:t>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COND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 </a:t>
            </a:r>
            <a:endParaRPr b="1" dirty="0"/>
          </a:p>
          <a:p>
            <a:pPr lvl="0"/>
            <a:r>
              <a:rPr lang="en" dirty="0"/>
              <a:t>The following example demonstrates the operation </a:t>
            </a:r>
            <a:r>
              <a:rPr lang="en" b="1" dirty="0"/>
              <a:t>r 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⋈</a:t>
            </a:r>
            <a:r>
              <a:rPr lang="en" sz="1000" b="1" dirty="0">
                <a:solidFill>
                  <a:srgbClr val="222222"/>
                </a:solidFill>
                <a:highlight>
                  <a:srgbClr val="FFFFFF"/>
                </a:highlight>
              </a:rPr>
              <a:t>C=D</a:t>
            </a:r>
            <a:r>
              <a:rPr lang="en" sz="1950" b="1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" b="1" dirty="0"/>
              <a:t>s</a:t>
            </a:r>
            <a:endParaRPr b="1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94" name="Google Shape;2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3922809"/>
            <a:ext cx="4800600" cy="27800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5668B3A-BB7F-9AFD-E5C8-08CD1275A641}"/>
              </a:ext>
            </a:extLst>
          </p:cNvPr>
          <p:cNvSpPr/>
          <p:nvPr/>
        </p:nvSpPr>
        <p:spPr>
          <a:xfrm>
            <a:off x="2514600" y="4038600"/>
            <a:ext cx="457200" cy="106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56A9C4-05E8-AAB6-89D5-152CE96788EB}"/>
              </a:ext>
            </a:extLst>
          </p:cNvPr>
          <p:cNvSpPr/>
          <p:nvPr/>
        </p:nvSpPr>
        <p:spPr>
          <a:xfrm>
            <a:off x="1676400" y="5367394"/>
            <a:ext cx="457200" cy="11096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E1366B-2B1E-7656-57B0-2E565978F1CB}"/>
              </a:ext>
            </a:extLst>
          </p:cNvPr>
          <p:cNvSpPr/>
          <p:nvPr/>
        </p:nvSpPr>
        <p:spPr>
          <a:xfrm>
            <a:off x="1676400" y="4267200"/>
            <a:ext cx="12954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CABF30-1BB2-A1DB-A969-398B5C003BAB}"/>
              </a:ext>
            </a:extLst>
          </p:cNvPr>
          <p:cNvSpPr/>
          <p:nvPr/>
        </p:nvSpPr>
        <p:spPr>
          <a:xfrm>
            <a:off x="1676400" y="5633319"/>
            <a:ext cx="838200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07160-1F27-7A11-D5D6-EC1FFB462442}"/>
              </a:ext>
            </a:extLst>
          </p:cNvPr>
          <p:cNvSpPr/>
          <p:nvPr/>
        </p:nvSpPr>
        <p:spPr>
          <a:xfrm>
            <a:off x="3657600" y="5121322"/>
            <a:ext cx="2133600" cy="2460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034E25-A19D-174C-4AD6-CB110B1C2F06}"/>
              </a:ext>
            </a:extLst>
          </p:cNvPr>
          <p:cNvSpPr/>
          <p:nvPr/>
        </p:nvSpPr>
        <p:spPr>
          <a:xfrm>
            <a:off x="1676400" y="4572000"/>
            <a:ext cx="1295400" cy="2659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297378-5024-639A-7EAA-412ECC7F2DAC}"/>
              </a:ext>
            </a:extLst>
          </p:cNvPr>
          <p:cNvSpPr/>
          <p:nvPr/>
        </p:nvSpPr>
        <p:spPr>
          <a:xfrm>
            <a:off x="1676400" y="5948406"/>
            <a:ext cx="838200" cy="517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B53853-DD67-46B9-68C0-F2CB68433E4C}"/>
              </a:ext>
            </a:extLst>
          </p:cNvPr>
          <p:cNvSpPr/>
          <p:nvPr/>
        </p:nvSpPr>
        <p:spPr>
          <a:xfrm>
            <a:off x="3657600" y="5371405"/>
            <a:ext cx="2133600" cy="5667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DE5F32-517B-4283-C082-49C748ED6AE7}"/>
              </a:ext>
            </a:extLst>
          </p:cNvPr>
          <p:cNvSpPr txBox="1"/>
          <p:nvPr/>
        </p:nvSpPr>
        <p:spPr>
          <a:xfrm>
            <a:off x="5911516" y="3623194"/>
            <a:ext cx="31554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 </a:t>
            </a:r>
          </a:p>
          <a:p>
            <a:r>
              <a:rPr lang="en-GB" sz="2000" dirty="0"/>
              <a:t>FROM r JOIN s </a:t>
            </a:r>
          </a:p>
          <a:p>
            <a:r>
              <a:rPr lang="en-GB" sz="2000" dirty="0"/>
              <a:t>ON </a:t>
            </a:r>
            <a:r>
              <a:rPr lang="en-GB" sz="2000" dirty="0" err="1"/>
              <a:t>r.C</a:t>
            </a:r>
            <a:r>
              <a:rPr lang="en-GB" sz="2000" dirty="0"/>
              <a:t> = </a:t>
            </a:r>
            <a:r>
              <a:rPr lang="en-GB" sz="2000" dirty="0" err="1"/>
              <a:t>s.D</a:t>
            </a:r>
            <a:r>
              <a:rPr lang="en-GB" sz="2000" dirty="0"/>
              <a:t>;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4F52F-8519-C113-0E94-5DC48325FA86}"/>
              </a:ext>
            </a:extLst>
          </p:cNvPr>
          <p:cNvSpPr txBox="1"/>
          <p:nvPr/>
        </p:nvSpPr>
        <p:spPr>
          <a:xfrm>
            <a:off x="5826823" y="4614753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414101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6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9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Natural Join</a:t>
            </a:r>
            <a:endParaRPr b="1" dirty="0"/>
          </a:p>
        </p:txBody>
      </p:sp>
      <p:sp>
        <p:nvSpPr>
          <p:cNvPr id="300" name="Google Shape;300;p4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2873" indent="0">
              <a:buSzPct val="100000"/>
              <a:buNone/>
            </a:pPr>
            <a:r>
              <a:rPr lang="en" dirty="0"/>
              <a:t>Denoted by </a:t>
            </a:r>
            <a:r>
              <a:rPr lang="en" b="1" dirty="0"/>
              <a:t>(r * s)</a:t>
            </a:r>
            <a:endParaRPr b="1" dirty="0"/>
          </a:p>
          <a:p>
            <a:pPr marL="122873" indent="0">
              <a:buSzPct val="100000"/>
              <a:buNone/>
            </a:pPr>
            <a:r>
              <a:rPr lang="en" dirty="0"/>
              <a:t>Combines tuples of two relations using an implicit condition, i.e. the tables are related by columns that have the same names and types.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3850328"/>
            <a:ext cx="4345128" cy="251460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153341B-B202-5EE1-BB9D-446CD207B307}"/>
              </a:ext>
            </a:extLst>
          </p:cNvPr>
          <p:cNvSpPr/>
          <p:nvPr/>
        </p:nvSpPr>
        <p:spPr>
          <a:xfrm>
            <a:off x="1143000" y="4191000"/>
            <a:ext cx="11430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7D8CE-FDD2-D8B7-0DAD-01BEC5DD0476}"/>
              </a:ext>
            </a:extLst>
          </p:cNvPr>
          <p:cNvSpPr/>
          <p:nvPr/>
        </p:nvSpPr>
        <p:spPr>
          <a:xfrm>
            <a:off x="1143000" y="5257800"/>
            <a:ext cx="1143000" cy="292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E2D573-0343-F8E0-2041-D2E47029C7B7}"/>
              </a:ext>
            </a:extLst>
          </p:cNvPr>
          <p:cNvSpPr/>
          <p:nvPr/>
        </p:nvSpPr>
        <p:spPr>
          <a:xfrm>
            <a:off x="3064042" y="4815461"/>
            <a:ext cx="1584158" cy="2921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04635D-0A98-BF11-1B4F-1D34A0380508}"/>
              </a:ext>
            </a:extLst>
          </p:cNvPr>
          <p:cNvSpPr/>
          <p:nvPr/>
        </p:nvSpPr>
        <p:spPr>
          <a:xfrm>
            <a:off x="1138989" y="5729633"/>
            <a:ext cx="12192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84267-7747-A1BA-D94F-0F14E3D16070}"/>
              </a:ext>
            </a:extLst>
          </p:cNvPr>
          <p:cNvSpPr/>
          <p:nvPr/>
        </p:nvSpPr>
        <p:spPr>
          <a:xfrm>
            <a:off x="1138989" y="4610100"/>
            <a:ext cx="12192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2177E-70A3-226F-7E55-5CB1F6916568}"/>
              </a:ext>
            </a:extLst>
          </p:cNvPr>
          <p:cNvSpPr/>
          <p:nvPr/>
        </p:nvSpPr>
        <p:spPr>
          <a:xfrm>
            <a:off x="3064042" y="5044061"/>
            <a:ext cx="1584158" cy="2137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AF377-D2A8-918E-8330-B6F439EA483D}"/>
              </a:ext>
            </a:extLst>
          </p:cNvPr>
          <p:cNvSpPr txBox="1"/>
          <p:nvPr/>
        </p:nvSpPr>
        <p:spPr>
          <a:xfrm>
            <a:off x="5484117" y="3926387"/>
            <a:ext cx="3155400" cy="7078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 </a:t>
            </a:r>
          </a:p>
          <a:p>
            <a:r>
              <a:rPr lang="en-GB" sz="2000" dirty="0"/>
              <a:t>FROM r NATURAL JOIN s;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2F5564-F659-8723-3502-931A1C0B4B0E}"/>
              </a:ext>
            </a:extLst>
          </p:cNvPr>
          <p:cNvSpPr txBox="1"/>
          <p:nvPr/>
        </p:nvSpPr>
        <p:spPr>
          <a:xfrm>
            <a:off x="5372016" y="4646313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24911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5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8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21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9" grpId="0" animBg="1"/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Left Outer Join</a:t>
            </a:r>
            <a:endParaRPr b="1" dirty="0"/>
          </a:p>
        </p:txBody>
      </p:sp>
      <p:sp>
        <p:nvSpPr>
          <p:cNvPr id="308" name="Google Shape;308;p4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980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 dirty="0"/>
              <a:t>Denoted </a:t>
            </a:r>
            <a:r>
              <a:rPr lang="en" sz="2550" b="1" dirty="0"/>
              <a:t>(r 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⟕</a:t>
            </a:r>
            <a:r>
              <a:rPr lang="en" sz="1400" b="1" dirty="0">
                <a:solidFill>
                  <a:srgbClr val="4D5156"/>
                </a:solidFill>
                <a:highlight>
                  <a:srgbClr val="FFFFFF"/>
                </a:highlight>
              </a:rPr>
              <a:t>COND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 s</a:t>
            </a:r>
            <a:r>
              <a:rPr lang="en" sz="2550" b="1" dirty="0"/>
              <a:t>)</a:t>
            </a:r>
            <a:endParaRPr sz="2550" dirty="0"/>
          </a:p>
          <a:p>
            <a:pPr marL="457200" lvl="0" indent="-329803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800" dirty="0"/>
              <a:t>Combines tuples of two relations and </a:t>
            </a:r>
            <a:r>
              <a:rPr lang="en" sz="2550" dirty="0"/>
              <a:t>keeps in the result every tuple from the left table, but only those from the right table that meet the join condition.</a:t>
            </a:r>
            <a:endParaRPr sz="2550"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10" name="Google Shape;31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3581400"/>
            <a:ext cx="2452525" cy="23599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89D8F1-77B0-700F-1467-61D72B8E7E76}"/>
              </a:ext>
            </a:extLst>
          </p:cNvPr>
          <p:cNvSpPr txBox="1"/>
          <p:nvPr/>
        </p:nvSpPr>
        <p:spPr>
          <a:xfrm>
            <a:off x="4393502" y="3565358"/>
            <a:ext cx="3155400" cy="10156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SELECT *</a:t>
            </a:r>
          </a:p>
          <a:p>
            <a:r>
              <a:rPr lang="en-GB" sz="2000" dirty="0"/>
              <a:t>FROM r LEFT JOIN s</a:t>
            </a:r>
          </a:p>
          <a:p>
            <a:r>
              <a:rPr lang="en-GB" sz="2000" dirty="0"/>
              <a:t>ON r.A = s.D;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9D5D5-8415-B9DF-575D-2B4ACD3E7579}"/>
              </a:ext>
            </a:extLst>
          </p:cNvPr>
          <p:cNvSpPr txBox="1"/>
          <p:nvPr/>
        </p:nvSpPr>
        <p:spPr>
          <a:xfrm>
            <a:off x="4267200" y="4581021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</p:spTree>
    <p:extLst>
      <p:ext uri="{BB962C8B-B14F-4D97-AF65-F5344CB8AC3E}">
        <p14:creationId xmlns:p14="http://schemas.microsoft.com/office/powerpoint/2010/main" val="480885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Left Outer Join Example</a:t>
            </a:r>
            <a:endParaRPr b="1" dirty="0"/>
          </a:p>
        </p:txBody>
      </p:sp>
      <p:sp>
        <p:nvSpPr>
          <p:cNvPr id="316" name="Google Shape;316;p4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8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50" b="1" dirty="0"/>
              <a:t>(r 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⟕</a:t>
            </a:r>
            <a:r>
              <a:rPr lang="en" sz="1400" b="1" dirty="0">
                <a:solidFill>
                  <a:srgbClr val="4D5156"/>
                </a:solidFill>
                <a:highlight>
                  <a:srgbClr val="FFFFFF"/>
                </a:highlight>
              </a:rPr>
              <a:t>A=D</a:t>
            </a:r>
            <a:r>
              <a:rPr lang="en" sz="2550" b="1" dirty="0">
                <a:solidFill>
                  <a:srgbClr val="4D5156"/>
                </a:solidFill>
                <a:highlight>
                  <a:srgbClr val="FFFFFF"/>
                </a:highlight>
              </a:rPr>
              <a:t> s</a:t>
            </a:r>
            <a:r>
              <a:rPr lang="en" sz="2550" b="1" dirty="0"/>
              <a:t>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" dirty="0"/>
          </a:p>
        </p:txBody>
      </p:sp>
      <p:pic>
        <p:nvPicPr>
          <p:cNvPr id="318" name="Google Shape;31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1976" y="1536633"/>
            <a:ext cx="5565625" cy="3442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9F9F1B-DB8C-4135-CDBD-F6A989010330}"/>
              </a:ext>
            </a:extLst>
          </p:cNvPr>
          <p:cNvSpPr/>
          <p:nvPr/>
        </p:nvSpPr>
        <p:spPr>
          <a:xfrm>
            <a:off x="2895600" y="1752600"/>
            <a:ext cx="457200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1CEFB-F5E6-24FC-87F7-9597BF331E12}"/>
              </a:ext>
            </a:extLst>
          </p:cNvPr>
          <p:cNvSpPr/>
          <p:nvPr/>
        </p:nvSpPr>
        <p:spPr>
          <a:xfrm>
            <a:off x="2899611" y="3437021"/>
            <a:ext cx="457200" cy="1371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9DF64-97B4-E3E1-B3E9-0447C7D4E222}"/>
              </a:ext>
            </a:extLst>
          </p:cNvPr>
          <p:cNvSpPr/>
          <p:nvPr/>
        </p:nvSpPr>
        <p:spPr>
          <a:xfrm>
            <a:off x="2895600" y="2743200"/>
            <a:ext cx="1371600" cy="3810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ED3BD-ED58-EBDC-7308-9D1117CB1476}"/>
              </a:ext>
            </a:extLst>
          </p:cNvPr>
          <p:cNvSpPr/>
          <p:nvPr/>
        </p:nvSpPr>
        <p:spPr>
          <a:xfrm>
            <a:off x="5101390" y="4114801"/>
            <a:ext cx="2366209" cy="304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905EB370-54EC-D1C4-01C1-3FB61DC43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58333"/>
            <a:ext cx="36449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94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3" dur="indefinite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16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Queries Using Set Operations, Projection, Conditional Selection and Joins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52400" y="1600200"/>
                <a:ext cx="5181600" cy="4983161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i="1" dirty="0"/>
                  <a:t>List the names, genders and department names of all employees.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𝑎𝑛𝑠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gender</m:t>
                          </m:r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dname</m:t>
                          </m:r>
                        </m:sub>
                        <m:sup/>
                        <m:e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Employee</m:t>
                          </m:r>
                          <m: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m:rPr>
                              <m:sty m:val="p"/>
                            </m:rPr>
                            <a:rPr lang="en-GB" sz="2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Department</m:t>
                          </m:r>
                          <m:r>
                            <a:rPr 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r>
                  <a:rPr lang="en-US" b="1" i="1" dirty="0"/>
                  <a:t>List the names of all the female employees in the HR department</a:t>
                </a:r>
                <a:r>
                  <a:rPr lang="en-US" i="1" dirty="0"/>
                  <a:t>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500" b="0" i="0" smtClean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gender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F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Employee</m:t>
                              </m:r>
                            </m:e>
                          </m:d>
                          <m:r>
                            <a:rPr lang="en-GB" sz="2500" i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HR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:r>
                  <a:rPr lang="en-US" dirty="0"/>
                  <a:t>alternatively,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500" i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25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2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fname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mint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GB" sz="2500" i="0">
                              <a:latin typeface="Cambria Math" panose="02040503050406030204" pitchFamily="18" charset="0"/>
                            </a:rPr>
                            <m:t>lname</m:t>
                          </m:r>
                          <m:r>
                            <a:rPr lang="en-GB" sz="2500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2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gender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F</m:t>
                              </m:r>
                              <m: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 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and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HR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 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5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2500" i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Employee</m:t>
                              </m:r>
                              <m: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∗</m:t>
                              </m:r>
                              <m:r>
                                <m:rPr>
                                  <m:sty m:val="p"/>
                                </m:rPr>
                                <a:rPr lang="en-GB" sz="25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US" sz="25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5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Which of the two alternatives is better?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2400" y="1600200"/>
                <a:ext cx="5181600" cy="4983161"/>
              </a:xfrm>
              <a:blipFill>
                <a:blip r:embed="rId3"/>
                <a:stretch>
                  <a:fillRect l="-244" t="-6616" b="-6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417638"/>
            <a:ext cx="3733800" cy="2620962"/>
          </a:xfrm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81830C-F550-B0FB-A7AF-2E875DBFCEB8}"/>
              </a:ext>
            </a:extLst>
          </p:cNvPr>
          <p:cNvSpPr txBox="1"/>
          <p:nvPr/>
        </p:nvSpPr>
        <p:spPr>
          <a:xfrm>
            <a:off x="381000" y="2728119"/>
            <a:ext cx="449580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SELECT fname, mint, lname, gender, dname </a:t>
            </a:r>
          </a:p>
          <a:p>
            <a:r>
              <a:rPr lang="en-GB" dirty="0"/>
              <a:t>FROM Employee NATURAL JOIN Department;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03E95-BEBC-BA6B-99AC-BD13B8339EEF}"/>
              </a:ext>
            </a:extLst>
          </p:cNvPr>
          <p:cNvSpPr txBox="1"/>
          <p:nvPr/>
        </p:nvSpPr>
        <p:spPr>
          <a:xfrm>
            <a:off x="5257800" y="4442936"/>
            <a:ext cx="3733800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fname</a:t>
            </a:r>
            <a:r>
              <a:rPr lang="en-US" dirty="0"/>
              <a:t>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 e JOIN Department d</a:t>
            </a:r>
          </a:p>
          <a:p>
            <a:r>
              <a:rPr lang="en-US" dirty="0"/>
              <a:t>ON </a:t>
            </a:r>
            <a:r>
              <a:rPr lang="en-US" dirty="0" err="1"/>
              <a:t>e.dno</a:t>
            </a:r>
            <a:r>
              <a:rPr lang="en-US" dirty="0"/>
              <a:t> = </a:t>
            </a:r>
            <a:r>
              <a:rPr lang="en-US" dirty="0" err="1"/>
              <a:t>d.dno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e.gender</a:t>
            </a:r>
            <a:r>
              <a:rPr lang="en-US" dirty="0"/>
              <a:t> = 'F'</a:t>
            </a:r>
          </a:p>
          <a:p>
            <a:r>
              <a:rPr lang="en-US" dirty="0"/>
              <a:t>  AND </a:t>
            </a:r>
            <a:r>
              <a:rPr lang="en-US" dirty="0" err="1"/>
              <a:t>d.dname</a:t>
            </a:r>
            <a:r>
              <a:rPr lang="en-US" dirty="0"/>
              <a:t> = 'HR';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55412-36DE-CBA7-B747-8CD9978178E2}"/>
              </a:ext>
            </a:extLst>
          </p:cNvPr>
          <p:cNvSpPr txBox="1"/>
          <p:nvPr/>
        </p:nvSpPr>
        <p:spPr>
          <a:xfrm>
            <a:off x="5133353" y="5937030"/>
            <a:ext cx="39826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RDBS performs query chain optimization</a:t>
            </a:r>
          </a:p>
          <a:p>
            <a:r>
              <a:rPr lang="en-US" dirty="0"/>
              <a:t>to generate an optimal sequence of</a:t>
            </a:r>
          </a:p>
          <a:p>
            <a:r>
              <a:rPr lang="en-US" dirty="0"/>
              <a:t>relational algebra statements.</a:t>
            </a:r>
          </a:p>
        </p:txBody>
      </p:sp>
    </p:spTree>
    <p:extLst>
      <p:ext uri="{BB962C8B-B14F-4D97-AF65-F5344CB8AC3E}">
        <p14:creationId xmlns:p14="http://schemas.microsoft.com/office/powerpoint/2010/main" val="264788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Queries Using Set Operations, Projection, Conditional Selection and Joins</a:t>
            </a:r>
            <a:endParaRPr lang="en-US"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137" y="1608221"/>
                <a:ext cx="5181600" cy="5105399"/>
              </a:xfrm>
            </p:spPr>
            <p:txBody>
              <a:bodyPr>
                <a:normAutofit fontScale="32500" lnSpcReduction="20000"/>
              </a:bodyPr>
              <a:lstStyle/>
              <a:p>
                <a:pPr marL="0" indent="0">
                  <a:buNone/>
                </a:pPr>
                <a:r>
                  <a:rPr lang="en-US" sz="4300" b="1" i="1" dirty="0"/>
                  <a:t>List the ids of all employees of the EEE department working on project Panopto.</a:t>
                </a:r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370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37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37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GB" sz="3700" b="0" i="0" smtClean="0">
                              <a:latin typeface="Cambria Math" panose="02040503050406030204" pitchFamily="18" charset="0"/>
                            </a:rPr>
                            <m:t>empid</m:t>
                          </m:r>
                          <m:r>
                            <a:rPr lang="en-GB" sz="370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a:rPr lang="en-US" sz="37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37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Employee</m:t>
                          </m:r>
                          <m:r>
                            <a:rPr lang="en-GB" sz="370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GB" sz="37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GB" sz="3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dname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7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Department</m:t>
                              </m:r>
                            </m:e>
                          </m:d>
                          <m:r>
                            <a:rPr lang="en-GB" sz="3700" b="0" i="1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GB" sz="37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pname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=“</m:t>
                              </m:r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Panopto</m:t>
                              </m:r>
                              <m:r>
                                <a:rPr lang="en-GB" sz="370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”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3700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3700" b="0" i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Arial" panose="020B0604020202020204" pitchFamily="34" charset="0"/>
                                </a:rPr>
                                <m:t>Project</m:t>
                              </m:r>
                            </m:e>
                          </m:d>
                          <m:r>
                            <a:rPr lang="en-US" sz="37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37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3700" dirty="0"/>
              </a:p>
              <a:p>
                <a:pPr marL="0" indent="0">
                  <a:buNone/>
                </a:pPr>
                <a:endParaRPr lang="en-US" sz="3300" dirty="0"/>
              </a:p>
              <a:p>
                <a:pPr marL="0" indent="0">
                  <a:buNone/>
                </a:pPr>
                <a:r>
                  <a:rPr lang="en-US" sz="4300" dirty="0"/>
                  <a:t>which attribute is being used to join? </a:t>
                </a:r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4300" i="1" dirty="0"/>
              </a:p>
              <a:p>
                <a:pPr marL="0" indent="0">
                  <a:buNone/>
                </a:pPr>
                <a:endParaRPr lang="en-US" sz="6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9B2BA55-83DA-31CD-AB68-83476ECEA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137" y="1608221"/>
                <a:ext cx="5181600" cy="5105399"/>
              </a:xfrm>
              <a:blipFill>
                <a:blip r:embed="rId3"/>
                <a:stretch>
                  <a:fillRect l="-5379" t="-993" r="-1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58063" y="1425659"/>
            <a:ext cx="3733800" cy="312420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D5662-C122-687B-CD17-E3391902BE15}"/>
              </a:ext>
            </a:extLst>
          </p:cNvPr>
          <p:cNvSpPr txBox="1"/>
          <p:nvPr/>
        </p:nvSpPr>
        <p:spPr>
          <a:xfrm>
            <a:off x="236621" y="3233089"/>
            <a:ext cx="4495800" cy="3539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SELECT DISTINCT </a:t>
            </a:r>
            <a:r>
              <a:rPr lang="en-GB" sz="1600" dirty="0" err="1"/>
              <a:t>e.empid</a:t>
            </a:r>
            <a:endParaRPr lang="en-GB" sz="1600" dirty="0"/>
          </a:p>
          <a:p>
            <a:r>
              <a:rPr lang="en-GB" sz="1600" dirty="0"/>
              <a:t>FROM 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Employee e JOIN Department d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e.dno</a:t>
            </a:r>
            <a:r>
              <a:rPr lang="en-GB" sz="1600" dirty="0"/>
              <a:t> = </a:t>
            </a:r>
            <a:r>
              <a:rPr lang="en-GB" sz="1600" dirty="0" err="1"/>
              <a:t>d.dno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JOIN WorksOn w  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e.empid</a:t>
            </a:r>
            <a:r>
              <a:rPr lang="en-GB" sz="1600" dirty="0"/>
              <a:t> = </a:t>
            </a:r>
            <a:r>
              <a:rPr lang="en-GB" sz="1600" dirty="0" err="1"/>
              <a:t>w.empid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JOIN Project p  </a:t>
            </a:r>
          </a:p>
          <a:p>
            <a:r>
              <a:rPr lang="en-GB" sz="1600" dirty="0"/>
              <a:t>ON </a:t>
            </a:r>
            <a:r>
              <a:rPr lang="en-GB" sz="1600" dirty="0" err="1"/>
              <a:t>w.pno</a:t>
            </a:r>
            <a:r>
              <a:rPr lang="en-GB" sz="1600" dirty="0"/>
              <a:t> = </a:t>
            </a:r>
            <a:r>
              <a:rPr lang="en-GB" sz="1600" dirty="0" err="1"/>
              <a:t>p.pno</a:t>
            </a:r>
            <a:br>
              <a:rPr lang="en-GB" sz="1600" dirty="0"/>
            </a:br>
            <a:endParaRPr lang="en-GB" sz="1600" dirty="0"/>
          </a:p>
          <a:p>
            <a:r>
              <a:rPr lang="en-GB" sz="1600" dirty="0"/>
              <a:t>WHERE </a:t>
            </a:r>
            <a:r>
              <a:rPr lang="en-GB" sz="1600" dirty="0" err="1"/>
              <a:t>d.dname</a:t>
            </a:r>
            <a:r>
              <a:rPr lang="en-GB" sz="1600" dirty="0"/>
              <a:t> = 'EEE'</a:t>
            </a:r>
          </a:p>
          <a:p>
            <a:r>
              <a:rPr lang="en-GB" sz="1600" dirty="0"/>
              <a:t>  AND </a:t>
            </a:r>
            <a:r>
              <a:rPr lang="en-GB" sz="1600" dirty="0" err="1"/>
              <a:t>p.pname</a:t>
            </a:r>
            <a:r>
              <a:rPr lang="en-GB" sz="1600" dirty="0"/>
              <a:t> = 'Panopto';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7D4DEC-CFB2-CB09-E447-CC6FAA07DACB}"/>
                  </a:ext>
                </a:extLst>
              </p:cNvPr>
              <p:cNvSpPr txBox="1"/>
              <p:nvPr/>
            </p:nvSpPr>
            <p:spPr>
              <a:xfrm>
                <a:off x="5285873" y="4628388"/>
                <a:ext cx="3601453" cy="21494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400" b="1" i="1" dirty="0"/>
                  <a:t>List the last names of all employees who have at least one dependent.</a:t>
                </a:r>
              </a:p>
              <a:p>
                <a:pPr marL="0" indent="0">
                  <a:buNone/>
                </a:pPr>
                <a:endParaRPr lang="en-US" sz="14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1400" b="0" i="0" smtClean="0">
                          <a:latin typeface="Cambria Math" panose="02040503050406030204" pitchFamily="18" charset="0"/>
                        </a:rPr>
                        <m:t>ans</m:t>
                      </m:r>
                      <m:r>
                        <a:rPr lang="en-GB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mpid</m:t>
                          </m:r>
                          <m:r>
                            <a:rPr lang="en-GB" sz="1400" i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GB" sz="1400" i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Arial" panose="020B0604020202020204" pitchFamily="34" charset="0"/>
                            </a:rPr>
                            <m:t>Dependent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pPr marL="0" indent="0">
                  <a:buNone/>
                </a:pPr>
                <a:r>
                  <a:rPr lang="en-US" sz="1400" b="1" i="1" dirty="0">
                    <a:solidFill>
                      <a:schemeClr val="tx2"/>
                    </a:solidFill>
                  </a:rPr>
                  <a:t>Get the last names of all employees who have at least two dependents.</a:t>
                </a:r>
              </a:p>
              <a:p>
                <a:pPr marL="0" indent="0">
                  <a:buNone/>
                </a:pPr>
                <a:r>
                  <a:rPr lang="en-US" sz="1400" dirty="0"/>
                  <a:t>	</a:t>
                </a:r>
                <a:r>
                  <a:rPr lang="en-US" sz="1400" dirty="0">
                    <a:solidFill>
                      <a:srgbClr val="FF0000"/>
                    </a:solidFill>
                  </a:rPr>
                  <a:t>???</a:t>
                </a:r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B7D4DEC-CFB2-CB09-E447-CC6FAA07D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873" y="4628388"/>
                <a:ext cx="3601453" cy="2149499"/>
              </a:xfrm>
              <a:prstGeom prst="rect">
                <a:avLst/>
              </a:prstGeom>
              <a:blipFill>
                <a:blip r:embed="rId4"/>
                <a:stretch>
                  <a:fillRect l="-704" t="-4706" r="-352" b="-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9A605912-BF19-1296-1EC1-0C3861BC0119}"/>
              </a:ext>
            </a:extLst>
          </p:cNvPr>
          <p:cNvSpPr txBox="1"/>
          <p:nvPr/>
        </p:nvSpPr>
        <p:spPr>
          <a:xfrm>
            <a:off x="6452937" y="5703137"/>
            <a:ext cx="2691063" cy="307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1400" dirty="0"/>
              <a:t>SELECT empid FROM Dependent;</a:t>
            </a:r>
          </a:p>
        </p:txBody>
      </p:sp>
    </p:spTree>
    <p:extLst>
      <p:ext uri="{BB962C8B-B14F-4D97-AF65-F5344CB8AC3E}">
        <p14:creationId xmlns:p14="http://schemas.microsoft.com/office/powerpoint/2010/main" val="19146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Aggregation</a:t>
            </a:r>
            <a:endParaRPr b="1" dirty="0"/>
          </a:p>
        </p:txBody>
      </p:sp>
      <p:sp>
        <p:nvSpPr>
          <p:cNvPr id="324" name="Google Shape;324;p4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Syntax: </a:t>
            </a:r>
            <a:r>
              <a:rPr lang="en" b="1" dirty="0"/>
              <a:t>(</a:t>
            </a:r>
            <a:r>
              <a:rPr lang="en" sz="1000" b="1" dirty="0"/>
              <a:t>&lt;Grouping attribute&gt;</a:t>
            </a:r>
            <a:r>
              <a:rPr lang="en" b="1" dirty="0"/>
              <a:t> F </a:t>
            </a:r>
            <a:r>
              <a:rPr lang="en" sz="1000" b="1" dirty="0"/>
              <a:t>&lt;function list&gt;</a:t>
            </a:r>
            <a:r>
              <a:rPr lang="en" b="1" dirty="0"/>
              <a:t> (relation name) )</a:t>
            </a:r>
            <a:r>
              <a:rPr lang="en" dirty="0"/>
              <a:t> </a:t>
            </a:r>
            <a:endParaRPr dirty="0"/>
          </a:p>
          <a:p>
            <a:pPr lvl="0"/>
            <a:endParaRPr lang="en" b="1" dirty="0"/>
          </a:p>
          <a:p>
            <a:pPr lvl="0"/>
            <a:r>
              <a:rPr lang="en" b="1" dirty="0"/>
              <a:t>&lt;function list&gt; : </a:t>
            </a:r>
            <a:r>
              <a:rPr lang="en-GB" dirty="0"/>
              <a:t>contains simple mathematical functions. </a:t>
            </a:r>
          </a:p>
          <a:p>
            <a:pPr lvl="1"/>
            <a:r>
              <a:rPr lang="en" dirty="0"/>
              <a:t>Common functions are: MAX, MIN, AVG, SUM and COUNT</a:t>
            </a:r>
            <a:endParaRPr dirty="0"/>
          </a:p>
          <a:p>
            <a:pPr lvl="0"/>
            <a:r>
              <a:rPr lang="en" b="1" dirty="0"/>
              <a:t>&lt;Grouping attribute&gt;: </a:t>
            </a:r>
            <a:r>
              <a:rPr lang="en" dirty="0"/>
              <a:t>contains</a:t>
            </a:r>
            <a:r>
              <a:rPr lang="en" b="1" dirty="0"/>
              <a:t> </a:t>
            </a:r>
            <a:r>
              <a:rPr lang="en" dirty="0"/>
              <a:t>a column name to organize the function outputs into groups.</a:t>
            </a:r>
          </a:p>
          <a:p>
            <a:pPr lvl="1"/>
            <a:r>
              <a:rPr lang="en-GB" dirty="0"/>
              <a:t>W</a:t>
            </a:r>
            <a:r>
              <a:rPr lang="en" dirty="0" err="1"/>
              <a:t>ithout</a:t>
            </a:r>
            <a:r>
              <a:rPr lang="en" dirty="0"/>
              <a:t> a grouping attribute a global, across-the-table result is returned 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6436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Aggregation Example</a:t>
            </a:r>
            <a:endParaRPr b="1" dirty="0"/>
          </a:p>
        </p:txBody>
      </p:sp>
      <p:sp>
        <p:nvSpPr>
          <p:cNvPr id="331" name="Google Shape;331;p4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( </a:t>
            </a:r>
            <a:r>
              <a:rPr lang="en" sz="1000" b="1" dirty="0"/>
              <a:t>A</a:t>
            </a:r>
            <a:r>
              <a:rPr lang="en" b="1" dirty="0"/>
              <a:t> F </a:t>
            </a:r>
            <a:r>
              <a:rPr lang="en" sz="1000" b="1" dirty="0"/>
              <a:t>SUM(B), MAX(C)</a:t>
            </a:r>
            <a:r>
              <a:rPr lang="en" b="1" dirty="0"/>
              <a:t> (r) )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GB" b="1" dirty="0"/>
          </a:p>
        </p:txBody>
      </p:sp>
      <p:pic>
        <p:nvPicPr>
          <p:cNvPr id="333" name="Google Shape;33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2438400"/>
            <a:ext cx="5386375" cy="25315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D231CB-E31A-7AC2-8BC5-E7EB37B43BC5}"/>
              </a:ext>
            </a:extLst>
          </p:cNvPr>
          <p:cNvSpPr txBox="1"/>
          <p:nvPr/>
        </p:nvSpPr>
        <p:spPr>
          <a:xfrm>
            <a:off x="6287464" y="2690336"/>
            <a:ext cx="2323136" cy="14773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A,</a:t>
            </a:r>
          </a:p>
          <a:p>
            <a:r>
              <a:rPr lang="en-US" dirty="0"/>
              <a:t>       SUM(B) AS </a:t>
            </a:r>
            <a:r>
              <a:rPr lang="en-US" dirty="0" err="1"/>
              <a:t>Sum_B</a:t>
            </a:r>
            <a:r>
              <a:rPr lang="en-US" dirty="0"/>
              <a:t>,</a:t>
            </a:r>
          </a:p>
          <a:p>
            <a:r>
              <a:rPr lang="en-US" dirty="0"/>
              <a:t>       MAX(C) AS </a:t>
            </a:r>
            <a:r>
              <a:rPr lang="en-US" dirty="0" err="1"/>
              <a:t>Max_C</a:t>
            </a:r>
            <a:endParaRPr lang="en-US" dirty="0"/>
          </a:p>
          <a:p>
            <a:r>
              <a:rPr lang="en-US" dirty="0"/>
              <a:t>FROM r</a:t>
            </a:r>
          </a:p>
          <a:p>
            <a:r>
              <a:rPr lang="en-US" dirty="0"/>
              <a:t>GROUP BY A;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C3D0FF-B48A-D101-236E-0E53ABB09BB3}"/>
              </a:ext>
            </a:extLst>
          </p:cNvPr>
          <p:cNvSpPr txBox="1"/>
          <p:nvPr/>
        </p:nvSpPr>
        <p:spPr>
          <a:xfrm>
            <a:off x="6235327" y="4167664"/>
            <a:ext cx="1998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Corresponding SQL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01E1B5-FBF3-E0D4-BFC4-5B30385274E4}"/>
              </a:ext>
            </a:extLst>
          </p:cNvPr>
          <p:cNvSpPr/>
          <p:nvPr/>
        </p:nvSpPr>
        <p:spPr>
          <a:xfrm>
            <a:off x="7445021" y="2775507"/>
            <a:ext cx="1383268" cy="10668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C58A5-E936-5237-42FD-F532CBC13A19}"/>
              </a:ext>
            </a:extLst>
          </p:cNvPr>
          <p:cNvSpPr txBox="1"/>
          <p:nvPr/>
        </p:nvSpPr>
        <p:spPr>
          <a:xfrm>
            <a:off x="3226587" y="5334000"/>
            <a:ext cx="4466736" cy="9233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Renaming of column names required to</a:t>
            </a:r>
          </a:p>
          <a:p>
            <a:r>
              <a:rPr lang="en-US" dirty="0"/>
              <a:t>have reusable column names, e.g., to be used</a:t>
            </a:r>
          </a:p>
          <a:p>
            <a:r>
              <a:rPr lang="en-US" dirty="0"/>
              <a:t>in projection or conditional selection, etc.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85F9B2-E85F-4898-E791-48788357ED96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5459955" y="3842307"/>
            <a:ext cx="2676700" cy="149169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2703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Queries Using Aggregation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" y="1752601"/>
            <a:ext cx="5181600" cy="609600"/>
          </a:xfrm>
          <a:ln>
            <a:noFill/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i="1" dirty="0"/>
              <a:t>Get the employee ids and number of dependents of all employees who have at least two dependents.</a:t>
            </a:r>
          </a:p>
          <a:p>
            <a:pPr marL="0" indent="0">
              <a:buNone/>
            </a:pPr>
            <a:endParaRPr lang="en-US" sz="4300" i="1" dirty="0"/>
          </a:p>
          <a:p>
            <a:pPr marL="0" indent="0">
              <a:buNone/>
            </a:pPr>
            <a:endParaRPr lang="en-US" sz="4300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752601"/>
            <a:ext cx="3657600" cy="3352800"/>
          </a:xfrm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0BE31-03F8-4F69-CB28-96E06EB0D4E3}"/>
              </a:ext>
            </a:extLst>
          </p:cNvPr>
          <p:cNvSpPr txBox="1"/>
          <p:nvPr/>
        </p:nvSpPr>
        <p:spPr>
          <a:xfrm>
            <a:off x="5791200" y="6248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A70C6-E0DE-6A18-98DF-A54A3D17A21F}"/>
              </a:ext>
            </a:extLst>
          </p:cNvPr>
          <p:cNvSpPr txBox="1"/>
          <p:nvPr/>
        </p:nvSpPr>
        <p:spPr>
          <a:xfrm>
            <a:off x="304800" y="2590800"/>
            <a:ext cx="4114800" cy="286232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e.empid</a:t>
            </a:r>
            <a:r>
              <a:rPr lang="en-US" dirty="0"/>
              <a:t>,</a:t>
            </a:r>
          </a:p>
          <a:p>
            <a:r>
              <a:rPr lang="en-US" dirty="0"/>
              <a:t>       COUNT(*) AS </a:t>
            </a:r>
            <a:r>
              <a:rPr lang="en-US" dirty="0" err="1"/>
              <a:t>num_dependents</a:t>
            </a:r>
            <a:endParaRPr lang="en-US" dirty="0"/>
          </a:p>
          <a:p>
            <a:r>
              <a:rPr lang="en-US" dirty="0"/>
              <a:t>FROM </a:t>
            </a:r>
          </a:p>
          <a:p>
            <a:endParaRPr lang="en-US" dirty="0"/>
          </a:p>
          <a:p>
            <a:r>
              <a:rPr lang="en-US" dirty="0"/>
              <a:t>Employee e JOIN Dependent d</a:t>
            </a:r>
          </a:p>
          <a:p>
            <a:r>
              <a:rPr lang="en-US" dirty="0"/>
              <a:t>  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d.empid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e.empid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HAVING COUNT(*) &gt;= 2;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B0689-9359-B636-858A-AB0B5E258F9D}"/>
              </a:ext>
            </a:extLst>
          </p:cNvPr>
          <p:cNvSpPr txBox="1"/>
          <p:nvPr/>
        </p:nvSpPr>
        <p:spPr>
          <a:xfrm>
            <a:off x="76200" y="5786735"/>
            <a:ext cx="4585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HAVING</a:t>
            </a:r>
            <a:r>
              <a:rPr lang="en-US" dirty="0"/>
              <a:t> is used for conditional selection when </a:t>
            </a:r>
          </a:p>
          <a:p>
            <a:r>
              <a:rPr lang="en-US" b="1" dirty="0"/>
              <a:t>GROUP BY </a:t>
            </a:r>
            <a:r>
              <a:rPr lang="en-US" dirty="0"/>
              <a:t>based aggregation is involved.</a:t>
            </a:r>
          </a:p>
        </p:txBody>
      </p:sp>
    </p:spTree>
    <p:extLst>
      <p:ext uri="{BB962C8B-B14F-4D97-AF65-F5344CB8AC3E}">
        <p14:creationId xmlns:p14="http://schemas.microsoft.com/office/powerpoint/2010/main" val="111765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EA55-1081-FFF1-1B62-C2741C27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3C280-21CB-5715-9F86-FE62610D7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Nested Queries (or Subqueries)</a:t>
            </a:r>
            <a:endParaRPr lang="en-U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1342F98-E07F-EA87-DD35-FB85C6465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45768" y="1600200"/>
            <a:ext cx="3352800" cy="2553563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300" b="1" dirty="0"/>
              <a:t>Schema</a:t>
            </a:r>
          </a:p>
          <a:p>
            <a:pPr marL="0" indent="0">
              <a:buNone/>
            </a:pPr>
            <a:endParaRPr lang="en-US" sz="4300" dirty="0"/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Employee </a:t>
            </a:r>
            <a:r>
              <a:rPr lang="en-GB" sz="4300" dirty="0">
                <a:effectLst/>
                <a:latin typeface="Helvetica" pitchFamily="2" charset="0"/>
              </a:rPr>
              <a:t>(fname, mint, lname, 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Department </a:t>
            </a:r>
            <a:r>
              <a:rPr lang="en-GB" sz="4300" dirty="0">
                <a:effectLst/>
                <a:latin typeface="Helvetica" pitchFamily="2" charset="0"/>
              </a:rPr>
              <a:t>(dname, </a:t>
            </a:r>
            <a:r>
              <a:rPr lang="en-GB" sz="4300" u="sng" dirty="0">
                <a:effectLst/>
                <a:latin typeface="Helvetica" pitchFamily="2" charset="0"/>
              </a:rPr>
              <a:t>dno</a:t>
            </a:r>
            <a:r>
              <a:rPr lang="en-GB" sz="43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Project</a:t>
            </a:r>
            <a:r>
              <a:rPr lang="en-GB" sz="4300" dirty="0">
                <a:effectLst/>
                <a:latin typeface="Helvetica" pitchFamily="2" charset="0"/>
              </a:rPr>
              <a:t> (pname, 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WorksOn</a:t>
            </a:r>
            <a:r>
              <a:rPr lang="en-GB" sz="4300" dirty="0">
                <a:effectLst/>
                <a:latin typeface="Helvetica" pitchFamily="2" charset="0"/>
              </a:rPr>
              <a:t> 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pno</a:t>
            </a:r>
            <a:r>
              <a:rPr lang="en-GB" sz="43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43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4300" b="1" dirty="0">
                <a:effectLst/>
                <a:latin typeface="Helvetica" pitchFamily="2" charset="0"/>
              </a:rPr>
              <a:t>Dependent</a:t>
            </a:r>
            <a:r>
              <a:rPr lang="en-GB" sz="4300" dirty="0">
                <a:effectLst/>
                <a:latin typeface="Helvetica" pitchFamily="2" charset="0"/>
              </a:rPr>
              <a:t>(</a:t>
            </a:r>
            <a:r>
              <a:rPr lang="en-GB" sz="4300" u="sng" dirty="0">
                <a:effectLst/>
                <a:latin typeface="Helvetica" pitchFamily="2" charset="0"/>
              </a:rPr>
              <a:t>empid</a:t>
            </a:r>
            <a:r>
              <a:rPr lang="en-GB" sz="4300" dirty="0">
                <a:effectLst/>
                <a:latin typeface="Helvetica" pitchFamily="2" charset="0"/>
              </a:rPr>
              <a:t>, </a:t>
            </a:r>
            <a:r>
              <a:rPr lang="en-GB" sz="4300" u="sng" dirty="0">
                <a:effectLst/>
                <a:latin typeface="Helvetica" pitchFamily="2" charset="0"/>
              </a:rPr>
              <a:t>depname</a:t>
            </a:r>
            <a:r>
              <a:rPr lang="en-GB" sz="4300" dirty="0">
                <a:effectLst/>
                <a:latin typeface="Helvetica" pitchFamily="2" charset="0"/>
              </a:rPr>
              <a:t>, gender, </a:t>
            </a:r>
            <a:r>
              <a:rPr lang="en-GB" sz="4300" u="sng" dirty="0">
                <a:effectLst/>
                <a:latin typeface="Helvetica" pitchFamily="2" charset="0"/>
              </a:rPr>
              <a:t>bdate</a:t>
            </a:r>
            <a:r>
              <a:rPr lang="en-GB" sz="43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025048-9391-6B38-9F27-FE0C3DDEC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419600" cy="457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600" b="1" i="1" dirty="0"/>
              <a:t>List the ids and names of employees who are working on some project.</a:t>
            </a:r>
            <a:endParaRPr lang="en-US" sz="1600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192C93-7E30-0E0D-7AC8-93754F7904C1}"/>
              </a:ext>
            </a:extLst>
          </p:cNvPr>
          <p:cNvSpPr txBox="1"/>
          <p:nvPr/>
        </p:nvSpPr>
        <p:spPr>
          <a:xfrm>
            <a:off x="533400" y="2017659"/>
            <a:ext cx="3505200" cy="1754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empid, fname,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</a:t>
            </a:r>
          </a:p>
          <a:p>
            <a:r>
              <a:rPr lang="en-US" dirty="0"/>
              <a:t>WHERE empid </a:t>
            </a:r>
            <a:r>
              <a:rPr lang="en-US" b="1" dirty="0"/>
              <a:t>IN</a:t>
            </a:r>
            <a:r>
              <a:rPr lang="en-US" dirty="0"/>
              <a:t> (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SELECT empid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FROM WorksOn</a:t>
            </a:r>
          </a:p>
          <a:p>
            <a:r>
              <a:rPr lang="en-US" dirty="0"/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87EF9-3246-E23F-B25E-EC9C7258236D}"/>
              </a:ext>
            </a:extLst>
          </p:cNvPr>
          <p:cNvSpPr txBox="1"/>
          <p:nvPr/>
        </p:nvSpPr>
        <p:spPr>
          <a:xfrm>
            <a:off x="4307304" y="4394659"/>
            <a:ext cx="4684295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Other Subquery Operators like IN that can be used</a:t>
            </a:r>
            <a:r>
              <a:rPr lang="en-US" sz="1400" dirty="0"/>
              <a:t>:</a:t>
            </a:r>
            <a:br>
              <a:rPr lang="en-US" sz="1400" dirty="0"/>
            </a:br>
            <a:br>
              <a:rPr lang="en-US" sz="1400" dirty="0"/>
            </a:br>
            <a:r>
              <a:rPr lang="en-GB" sz="1400" b="1" dirty="0"/>
              <a:t>IN</a:t>
            </a:r>
            <a:r>
              <a:rPr lang="en-GB" sz="1400" dirty="0"/>
              <a:t>: value appears in the subquery result set</a:t>
            </a:r>
            <a:br>
              <a:rPr lang="en-GB" sz="1400" dirty="0"/>
            </a:br>
            <a:r>
              <a:rPr lang="en-GB" sz="1400" b="1" dirty="0"/>
              <a:t>NOT IN</a:t>
            </a:r>
            <a:r>
              <a:rPr lang="en-GB" sz="1400" dirty="0"/>
              <a:t>: value does not appear in the subquery result set</a:t>
            </a:r>
            <a:br>
              <a:rPr lang="en-GB" sz="1400" dirty="0"/>
            </a:br>
            <a:r>
              <a:rPr lang="en-GB" sz="1400" b="1" dirty="0"/>
              <a:t>EXISTS</a:t>
            </a:r>
            <a:r>
              <a:rPr lang="en-GB" sz="1400" dirty="0"/>
              <a:t>: subquery returns at least one row</a:t>
            </a:r>
            <a:br>
              <a:rPr lang="en-GB" sz="1400" dirty="0"/>
            </a:br>
            <a:r>
              <a:rPr lang="en-GB" sz="1400" b="1" dirty="0"/>
              <a:t>NOT EXISTS</a:t>
            </a:r>
            <a:r>
              <a:rPr lang="en-GB" sz="1400" dirty="0"/>
              <a:t>: subquery returns no rows</a:t>
            </a:r>
            <a:br>
              <a:rPr lang="en-GB" sz="1400" dirty="0"/>
            </a:br>
            <a:r>
              <a:rPr lang="en-GB" sz="1400" b="1" dirty="0"/>
              <a:t>ANY</a:t>
            </a:r>
            <a:r>
              <a:rPr lang="en-GB" sz="1400" dirty="0"/>
              <a:t>: comparison true for at least one value returned by subquery</a:t>
            </a:r>
            <a:br>
              <a:rPr lang="en-GB" sz="1400" dirty="0"/>
            </a:br>
            <a:r>
              <a:rPr lang="en-GB" sz="1400" b="1" dirty="0"/>
              <a:t>SOME</a:t>
            </a:r>
            <a:r>
              <a:rPr lang="en-GB" sz="1400" dirty="0"/>
              <a:t>: same as ANY</a:t>
            </a:r>
            <a:br>
              <a:rPr lang="en-GB" sz="1400" dirty="0"/>
            </a:br>
            <a:r>
              <a:rPr lang="en-GB" sz="1400" b="1" dirty="0"/>
              <a:t>ALL</a:t>
            </a:r>
            <a:r>
              <a:rPr lang="en-GB" sz="1400" dirty="0"/>
              <a:t>: comparison true for every value returned by subquery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2EB5E-7F84-5606-F55B-E6B3B0E9FBD7}"/>
              </a:ext>
            </a:extLst>
          </p:cNvPr>
          <p:cNvSpPr txBox="1"/>
          <p:nvPr/>
        </p:nvSpPr>
        <p:spPr>
          <a:xfrm>
            <a:off x="457200" y="4724400"/>
            <a:ext cx="3733800" cy="203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e.empid</a:t>
            </a:r>
            <a:r>
              <a:rPr lang="en-US" dirty="0"/>
              <a:t>, fname, mint, </a:t>
            </a:r>
            <a:r>
              <a:rPr lang="en-US" dirty="0" err="1"/>
              <a:t>lname</a:t>
            </a:r>
            <a:endParaRPr lang="en-US" dirty="0"/>
          </a:p>
          <a:p>
            <a:r>
              <a:rPr lang="en-US" dirty="0"/>
              <a:t>FROM Employee e</a:t>
            </a:r>
          </a:p>
          <a:p>
            <a:r>
              <a:rPr lang="en-US" dirty="0"/>
              <a:t>WHERE EXISTS (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SELECT *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FROM Dependent d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WHERE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d.empid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e.empid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dirty="0"/>
              <a:t>);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97DC6893-3B94-F42C-94C5-2E4F73CE7B14}"/>
              </a:ext>
            </a:extLst>
          </p:cNvPr>
          <p:cNvSpPr txBox="1">
            <a:spLocks/>
          </p:cNvSpPr>
          <p:nvPr/>
        </p:nvSpPr>
        <p:spPr>
          <a:xfrm>
            <a:off x="433137" y="4019592"/>
            <a:ext cx="4419600" cy="457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600" b="1" i="1" dirty="0"/>
              <a:t>List the ids and names of employees who have at least one dependent.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76943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1"/>
            <a:ext cx="4495800" cy="762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i="1" dirty="0"/>
              <a:t>List the complete employee data of all employees, and if they are working on projects, display the total number of hours they spend across all their projects.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038600" cy="327660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Schema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Employee </a:t>
            </a:r>
            <a:r>
              <a:rPr lang="en-GB" sz="2800" dirty="0">
                <a:effectLst/>
                <a:latin typeface="Helvetica" pitchFamily="2" charset="0"/>
              </a:rPr>
              <a:t>(fname, mint, lname, 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Department </a:t>
            </a:r>
            <a:r>
              <a:rPr lang="en-GB" sz="2800" dirty="0">
                <a:effectLst/>
                <a:latin typeface="Helvetica" pitchFamily="2" charset="0"/>
              </a:rPr>
              <a:t>(dname, </a:t>
            </a:r>
            <a:r>
              <a:rPr lang="en-GB" sz="2800" u="sng" dirty="0">
                <a:effectLst/>
                <a:latin typeface="Helvetica" pitchFamily="2" charset="0"/>
              </a:rPr>
              <a:t>dno</a:t>
            </a:r>
            <a:r>
              <a:rPr lang="en-GB" sz="28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Project</a:t>
            </a:r>
            <a:r>
              <a:rPr lang="en-GB" sz="2800" dirty="0">
                <a:effectLst/>
                <a:latin typeface="Helvetica" pitchFamily="2" charset="0"/>
              </a:rPr>
              <a:t> (pname, 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WorksOn</a:t>
            </a:r>
            <a:r>
              <a:rPr lang="en-GB" sz="2800" dirty="0">
                <a:effectLst/>
                <a:latin typeface="Helvetica" pitchFamily="2" charset="0"/>
              </a:rPr>
              <a:t> 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pno</a:t>
            </a:r>
            <a:r>
              <a:rPr lang="en-GB" sz="28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28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2800" b="1" dirty="0">
                <a:effectLst/>
                <a:latin typeface="Helvetica" pitchFamily="2" charset="0"/>
              </a:rPr>
              <a:t>Dependent</a:t>
            </a:r>
            <a:r>
              <a:rPr lang="en-GB" sz="2800" dirty="0">
                <a:effectLst/>
                <a:latin typeface="Helvetica" pitchFamily="2" charset="0"/>
              </a:rPr>
              <a:t>(</a:t>
            </a:r>
            <a:r>
              <a:rPr lang="en-GB" sz="2800" u="sng" dirty="0">
                <a:effectLst/>
                <a:latin typeface="Helvetica" pitchFamily="2" charset="0"/>
              </a:rPr>
              <a:t>empid</a:t>
            </a:r>
            <a:r>
              <a:rPr lang="en-GB" sz="2800" dirty="0">
                <a:effectLst/>
                <a:latin typeface="Helvetica" pitchFamily="2" charset="0"/>
              </a:rPr>
              <a:t>, </a:t>
            </a:r>
            <a:r>
              <a:rPr lang="en-GB" sz="2800" u="sng" dirty="0">
                <a:effectLst/>
                <a:latin typeface="Helvetica" pitchFamily="2" charset="0"/>
              </a:rPr>
              <a:t>depname</a:t>
            </a:r>
            <a:r>
              <a:rPr lang="en-GB" sz="2800" dirty="0">
                <a:effectLst/>
                <a:latin typeface="Helvetica" pitchFamily="2" charset="0"/>
              </a:rPr>
              <a:t>, gender, </a:t>
            </a:r>
            <a:r>
              <a:rPr lang="en-GB" sz="2800" u="sng" dirty="0">
                <a:effectLst/>
                <a:latin typeface="Helvetica" pitchFamily="2" charset="0"/>
              </a:rPr>
              <a:t>bdate</a:t>
            </a:r>
            <a:r>
              <a:rPr lang="en-GB" sz="28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8559D-4328-5017-4071-336A7146DC87}"/>
              </a:ext>
            </a:extLst>
          </p:cNvPr>
          <p:cNvSpPr txBox="1"/>
          <p:nvPr/>
        </p:nvSpPr>
        <p:spPr>
          <a:xfrm>
            <a:off x="372565" y="2464475"/>
            <a:ext cx="4055469" cy="2031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 e.*, SUM(</a:t>
            </a:r>
            <a:r>
              <a:rPr lang="en-US" dirty="0" err="1"/>
              <a:t>w.hours</a:t>
            </a:r>
            <a:r>
              <a:rPr lang="en-US" dirty="0"/>
              <a:t>) AS </a:t>
            </a:r>
            <a:r>
              <a:rPr lang="en-US" dirty="0" err="1"/>
              <a:t>total_hours</a:t>
            </a:r>
            <a:endParaRPr lang="en-US" dirty="0"/>
          </a:p>
          <a:p>
            <a:endParaRPr lang="en-US" dirty="0"/>
          </a:p>
          <a:p>
            <a:r>
              <a:rPr lang="en-US" dirty="0"/>
              <a:t>FROM Employee e LEFT JOIN WorksOn w</a:t>
            </a:r>
          </a:p>
          <a:p>
            <a:r>
              <a:rPr lang="en-US" dirty="0"/>
              <a:t>  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w.empid</a:t>
            </a:r>
            <a:endParaRPr lang="en-US" dirty="0"/>
          </a:p>
          <a:p>
            <a:endParaRPr lang="en-US" dirty="0"/>
          </a:p>
          <a:p>
            <a:r>
              <a:rPr lang="en-US" dirty="0"/>
              <a:t>GROUP BY </a:t>
            </a:r>
            <a:r>
              <a:rPr lang="en-US" dirty="0" err="1"/>
              <a:t>e.empid</a:t>
            </a:r>
            <a:r>
              <a:rPr lang="en-US" dirty="0"/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7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1"/>
            <a:ext cx="5029200" cy="457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00" b="1" i="1" dirty="0"/>
              <a:t>List the ids and last names of all EEE employees working on maximum number of projects.</a:t>
            </a:r>
          </a:p>
          <a:p>
            <a:pPr marL="0" indent="0">
              <a:buNone/>
            </a:pPr>
            <a:endParaRPr lang="en-US" sz="13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7800" y="1600201"/>
            <a:ext cx="3733800" cy="35814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Schema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Employee </a:t>
            </a:r>
            <a:r>
              <a:rPr lang="en-GB" sz="1400" dirty="0">
                <a:effectLst/>
                <a:latin typeface="Helvetica" pitchFamily="2" charset="0"/>
              </a:rPr>
              <a:t>(fname, mint, lname, 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Department </a:t>
            </a:r>
            <a:r>
              <a:rPr lang="en-GB" sz="1400" dirty="0">
                <a:effectLst/>
                <a:latin typeface="Helvetica" pitchFamily="2" charset="0"/>
              </a:rPr>
              <a:t>(dname, </a:t>
            </a:r>
            <a:r>
              <a:rPr lang="en-GB" sz="1400" u="sng" dirty="0">
                <a:effectLst/>
                <a:latin typeface="Helvetica" pitchFamily="2" charset="0"/>
              </a:rPr>
              <a:t>dno</a:t>
            </a:r>
            <a:r>
              <a:rPr lang="en-GB" sz="14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Project</a:t>
            </a:r>
            <a:r>
              <a:rPr lang="en-GB" sz="1400" dirty="0">
                <a:effectLst/>
                <a:latin typeface="Helvetica" pitchFamily="2" charset="0"/>
              </a:rPr>
              <a:t> (pname, 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WorksOn</a:t>
            </a:r>
            <a:r>
              <a:rPr lang="en-GB" sz="1400" dirty="0">
                <a:effectLst/>
                <a:latin typeface="Helvetica" pitchFamily="2" charset="0"/>
              </a:rPr>
              <a:t> 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Dependent</a:t>
            </a:r>
            <a:r>
              <a:rPr lang="en-GB" sz="1400" dirty="0">
                <a:effectLst/>
                <a:latin typeface="Helvetica" pitchFamily="2" charset="0"/>
              </a:rPr>
              <a:t>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depname</a:t>
            </a:r>
            <a:r>
              <a:rPr lang="en-GB" sz="1400" dirty="0">
                <a:effectLst/>
                <a:latin typeface="Helvetica" pitchFamily="2" charset="0"/>
              </a:rPr>
              <a:t>, gender, </a:t>
            </a:r>
            <a:r>
              <a:rPr lang="en-GB" sz="1400" u="sng" dirty="0">
                <a:effectLst/>
                <a:latin typeface="Helvetica" pitchFamily="2" charset="0"/>
              </a:rPr>
              <a:t>bdate</a:t>
            </a:r>
            <a:r>
              <a:rPr lang="en-GB" sz="14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6FEB0-29AA-3395-FA42-24F56F6C1BC9}"/>
              </a:ext>
            </a:extLst>
          </p:cNvPr>
          <p:cNvSpPr txBox="1"/>
          <p:nvPr/>
        </p:nvSpPr>
        <p:spPr>
          <a:xfrm>
            <a:off x="244642" y="2081464"/>
            <a:ext cx="4844716" cy="47705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SELECT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e.lname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FROM Employee e</a:t>
            </a:r>
          </a:p>
          <a:p>
            <a:r>
              <a:rPr lang="en-US" sz="1600" dirty="0">
                <a:solidFill>
                  <a:srgbClr val="0070C0"/>
                </a:solidFill>
              </a:rPr>
              <a:t>JOIN Department d ON </a:t>
            </a:r>
            <a:r>
              <a:rPr lang="en-US" sz="1600" dirty="0" err="1">
                <a:solidFill>
                  <a:srgbClr val="0070C0"/>
                </a:solidFill>
              </a:rPr>
              <a:t>e.dno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d.dno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JOIN WorksOn w   ON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 = </a:t>
            </a:r>
            <a:r>
              <a:rPr lang="en-US" sz="1600" dirty="0" err="1">
                <a:solidFill>
                  <a:srgbClr val="0070C0"/>
                </a:solidFill>
              </a:rPr>
              <a:t>w.empid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WHERE </a:t>
            </a:r>
            <a:r>
              <a:rPr lang="en-US" sz="1600" dirty="0" err="1">
                <a:solidFill>
                  <a:srgbClr val="0070C0"/>
                </a:solidFill>
              </a:rPr>
              <a:t>d.dname</a:t>
            </a:r>
            <a:r>
              <a:rPr lang="en-US" sz="1600" dirty="0">
                <a:solidFill>
                  <a:srgbClr val="0070C0"/>
                </a:solidFill>
              </a:rPr>
              <a:t> = 'EEE'</a:t>
            </a:r>
          </a:p>
          <a:p>
            <a:r>
              <a:rPr lang="en-US" sz="1600" dirty="0">
                <a:solidFill>
                  <a:srgbClr val="0070C0"/>
                </a:solidFill>
              </a:rPr>
              <a:t>GROUP BY </a:t>
            </a:r>
            <a:r>
              <a:rPr lang="en-US" sz="1600" dirty="0" err="1">
                <a:solidFill>
                  <a:srgbClr val="0070C0"/>
                </a:solidFill>
              </a:rPr>
              <a:t>e.empid</a:t>
            </a:r>
            <a:r>
              <a:rPr lang="en-US" sz="1600" dirty="0">
                <a:solidFill>
                  <a:srgbClr val="0070C0"/>
                </a:solidFill>
              </a:rPr>
              <a:t>, </a:t>
            </a:r>
            <a:r>
              <a:rPr lang="en-US" sz="1600" dirty="0" err="1">
                <a:solidFill>
                  <a:srgbClr val="0070C0"/>
                </a:solidFill>
              </a:rPr>
              <a:t>e.lname</a:t>
            </a:r>
            <a:endParaRPr lang="en-US" sz="1600" dirty="0">
              <a:solidFill>
                <a:srgbClr val="0070C0"/>
              </a:solidFill>
            </a:endParaRPr>
          </a:p>
          <a:p>
            <a:r>
              <a:rPr lang="en-US" sz="1600" dirty="0">
                <a:solidFill>
                  <a:srgbClr val="0070C0"/>
                </a:solidFill>
              </a:rPr>
              <a:t>HAVING COUNT(*) = (</a:t>
            </a:r>
          </a:p>
          <a:p>
            <a:r>
              <a:rPr lang="en-US" sz="1600" dirty="0"/>
              <a:t>    </a:t>
            </a:r>
            <a:r>
              <a:rPr lang="en-US" sz="1600" dirty="0">
                <a:solidFill>
                  <a:srgbClr val="00B050"/>
                </a:solidFill>
              </a:rPr>
              <a:t>SELECT MAX(</a:t>
            </a:r>
            <a:r>
              <a:rPr lang="en-US" sz="1600" dirty="0" err="1">
                <a:solidFill>
                  <a:srgbClr val="00B050"/>
                </a:solidFill>
              </a:rPr>
              <a:t>ct</a:t>
            </a:r>
            <a:r>
              <a:rPr lang="en-US" sz="1600" dirty="0">
                <a:solidFill>
                  <a:srgbClr val="00B050"/>
                </a:solidFill>
              </a:rPr>
              <a:t>)</a:t>
            </a:r>
          </a:p>
          <a:p>
            <a:r>
              <a:rPr lang="en-US" sz="1600" dirty="0">
                <a:solidFill>
                  <a:srgbClr val="00B050"/>
                </a:solidFill>
              </a:rPr>
              <a:t>    FROM (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SELECT COUNT(*) AS 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</a:rPr>
              <a:t>ct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FROM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Employee e2 JOIN Department d2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ON e2.dno = d2.dno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JOIN WorksOn w2   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ON e2.empid = w2.empid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WHERE d2.dname = 'EEE'</a:t>
            </a:r>
          </a:p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        GROUP BY e2.empid</a:t>
            </a:r>
          </a:p>
          <a:p>
            <a:r>
              <a:rPr lang="en-US" sz="1600" dirty="0"/>
              <a:t>   </a:t>
            </a:r>
            <a:r>
              <a:rPr lang="en-US" sz="1600" dirty="0">
                <a:solidFill>
                  <a:srgbClr val="00B050"/>
                </a:solidFill>
              </a:rPr>
              <a:t> )</a:t>
            </a:r>
          </a:p>
          <a:p>
            <a:r>
              <a:rPr lang="en-US" sz="1600" dirty="0">
                <a:solidFill>
                  <a:srgbClr val="0070C0"/>
                </a:solidFill>
              </a:rPr>
              <a:t>);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D13E1D8E-D223-52F2-6BFE-FB0D1964C2FB}"/>
              </a:ext>
            </a:extLst>
          </p:cNvPr>
          <p:cNvSpPr/>
          <p:nvPr/>
        </p:nvSpPr>
        <p:spPr>
          <a:xfrm>
            <a:off x="3429000" y="4343400"/>
            <a:ext cx="457200" cy="198120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352D2-3B4E-4A69-D74C-F367D3C2F052}"/>
              </a:ext>
            </a:extLst>
          </p:cNvPr>
          <p:cNvSpPr txBox="1"/>
          <p:nvPr/>
        </p:nvSpPr>
        <p:spPr>
          <a:xfrm>
            <a:off x="5410200" y="5562600"/>
            <a:ext cx="3135025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Results in a single-column table</a:t>
            </a:r>
          </a:p>
          <a:p>
            <a:r>
              <a:rPr lang="en-US" dirty="0"/>
              <a:t>with column name </a:t>
            </a:r>
            <a:r>
              <a:rPr lang="en-US" dirty="0" err="1"/>
              <a:t>ct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2F813-1FDD-0ECA-615B-1B77BB63991C}"/>
              </a:ext>
            </a:extLst>
          </p:cNvPr>
          <p:cNvCxnSpPr>
            <a:stCxn id="6" idx="1"/>
            <a:endCxn id="7" idx="1"/>
          </p:cNvCxnSpPr>
          <p:nvPr/>
        </p:nvCxnSpPr>
        <p:spPr>
          <a:xfrm>
            <a:off x="3886200" y="5334000"/>
            <a:ext cx="1524000" cy="55176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ight Brace 9">
            <a:extLst>
              <a:ext uri="{FF2B5EF4-FFF2-40B4-BE49-F238E27FC236}">
                <a16:creationId xmlns:a16="http://schemas.microsoft.com/office/drawing/2014/main" id="{94BEDF05-C6F3-182B-9A79-59B79B2C945A}"/>
              </a:ext>
            </a:extLst>
          </p:cNvPr>
          <p:cNvSpPr/>
          <p:nvPr/>
        </p:nvSpPr>
        <p:spPr>
          <a:xfrm>
            <a:off x="3657600" y="3810000"/>
            <a:ext cx="609600" cy="2773362"/>
          </a:xfrm>
          <a:prstGeom prst="rightBrace">
            <a:avLst>
              <a:gd name="adj1" fmla="val 20175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14FDAD-19E0-05E3-2AE1-B427FE37E937}"/>
              </a:ext>
            </a:extLst>
          </p:cNvPr>
          <p:cNvSpPr txBox="1"/>
          <p:nvPr/>
        </p:nvSpPr>
        <p:spPr>
          <a:xfrm>
            <a:off x="5410200" y="6324600"/>
            <a:ext cx="2450286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Results in a single value.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7C6B0B-5B2E-5D90-687C-E250A256E86E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>
            <a:off x="4267200" y="5196681"/>
            <a:ext cx="1143000" cy="131258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6399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3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0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"/>
                                      </p:to>
                                    </p:set>
                                    <p:animEffect filter="image" prLst="opacity: 0">
                                      <p:cBhvr rctx="IE">
                                        <p:cTn id="43" dur="indefinite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5E0D-8474-A6BC-DA48-B92B7090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Miscellaneous Queries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BA55-83DA-31CD-AB68-83476ECEA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5715000" cy="91440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600" b="1" i="1" dirty="0"/>
              <a:t>Output a table with the following columns:</a:t>
            </a:r>
          </a:p>
          <a:p>
            <a:pPr marL="0" indent="0">
              <a:buNone/>
            </a:pPr>
            <a:r>
              <a:rPr lang="en-US" sz="5600" b="1" i="1" dirty="0"/>
              <a:t>Employee Id, Last Name, Dept. name, Salary, No. of </a:t>
            </a:r>
            <a:r>
              <a:rPr lang="en-US" sz="5600" b="1" i="1" dirty="0" err="1"/>
              <a:t>Proj</a:t>
            </a:r>
            <a:r>
              <a:rPr lang="en-US" sz="5600" b="1" i="1" dirty="0"/>
              <a:t>, No. of Dependents  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DF4AC7-2CCE-86F1-A8AA-E2E743E1E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7400" y="1600200"/>
            <a:ext cx="3200400" cy="37338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Schema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Employee </a:t>
            </a:r>
            <a:r>
              <a:rPr lang="en-GB" sz="1400" dirty="0">
                <a:effectLst/>
                <a:latin typeface="Helvetica" pitchFamily="2" charset="0"/>
              </a:rPr>
              <a:t>(fname, mint, lname, 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bdate, address, gender, salary, superid,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Department </a:t>
            </a:r>
            <a:r>
              <a:rPr lang="en-GB" sz="1400" dirty="0">
                <a:effectLst/>
                <a:latin typeface="Helvetica" pitchFamily="2" charset="0"/>
              </a:rPr>
              <a:t>(dname, </a:t>
            </a:r>
            <a:r>
              <a:rPr lang="en-GB" sz="1400" u="sng" dirty="0">
                <a:effectLst/>
                <a:latin typeface="Helvetica" pitchFamily="2" charset="0"/>
              </a:rPr>
              <a:t>dno</a:t>
            </a:r>
            <a:r>
              <a:rPr lang="en-GB" sz="1400" dirty="0">
                <a:effectLst/>
                <a:latin typeface="Helvetica" pitchFamily="2" charset="0"/>
              </a:rPr>
              <a:t>, mgrid, mgstartdate) 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Project</a:t>
            </a:r>
            <a:r>
              <a:rPr lang="en-GB" sz="1400" dirty="0">
                <a:effectLst/>
                <a:latin typeface="Helvetica" pitchFamily="2" charset="0"/>
              </a:rPr>
              <a:t> (pname, 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plocation, dno)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WorksOn</a:t>
            </a:r>
            <a:r>
              <a:rPr lang="en-GB" sz="1400" dirty="0">
                <a:effectLst/>
                <a:latin typeface="Helvetica" pitchFamily="2" charset="0"/>
              </a:rPr>
              <a:t> 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pno</a:t>
            </a:r>
            <a:r>
              <a:rPr lang="en-GB" sz="1400" dirty="0">
                <a:effectLst/>
                <a:latin typeface="Helvetica" pitchFamily="2" charset="0"/>
              </a:rPr>
              <a:t>, hours)</a:t>
            </a:r>
          </a:p>
          <a:p>
            <a:pPr marL="0" indent="0">
              <a:buNone/>
            </a:pPr>
            <a:endParaRPr lang="en-GB" sz="1400" dirty="0">
              <a:effectLst/>
              <a:latin typeface="Helvetica" pitchFamily="2" charset="0"/>
            </a:endParaRPr>
          </a:p>
          <a:p>
            <a:pPr marL="0" indent="0">
              <a:buNone/>
            </a:pPr>
            <a:r>
              <a:rPr lang="en-GB" sz="1400" b="1" dirty="0">
                <a:effectLst/>
                <a:latin typeface="Helvetica" pitchFamily="2" charset="0"/>
              </a:rPr>
              <a:t>Dependent</a:t>
            </a:r>
            <a:r>
              <a:rPr lang="en-GB" sz="1400" dirty="0">
                <a:effectLst/>
                <a:latin typeface="Helvetica" pitchFamily="2" charset="0"/>
              </a:rPr>
              <a:t>(</a:t>
            </a:r>
            <a:r>
              <a:rPr lang="en-GB" sz="1400" u="sng" dirty="0">
                <a:effectLst/>
                <a:latin typeface="Helvetica" pitchFamily="2" charset="0"/>
              </a:rPr>
              <a:t>empid</a:t>
            </a:r>
            <a:r>
              <a:rPr lang="en-GB" sz="1400" dirty="0">
                <a:effectLst/>
                <a:latin typeface="Helvetica" pitchFamily="2" charset="0"/>
              </a:rPr>
              <a:t>, </a:t>
            </a:r>
            <a:r>
              <a:rPr lang="en-GB" sz="1400" u="sng" dirty="0">
                <a:effectLst/>
                <a:latin typeface="Helvetica" pitchFamily="2" charset="0"/>
              </a:rPr>
              <a:t>depname</a:t>
            </a:r>
            <a:r>
              <a:rPr lang="en-GB" sz="1400" dirty="0">
                <a:effectLst/>
                <a:latin typeface="Helvetica" pitchFamily="2" charset="0"/>
              </a:rPr>
              <a:t>, gender, </a:t>
            </a:r>
            <a:r>
              <a:rPr lang="en-GB" sz="1400" u="sng" dirty="0">
                <a:effectLst/>
                <a:latin typeface="Helvetica" pitchFamily="2" charset="0"/>
              </a:rPr>
              <a:t>bdate</a:t>
            </a:r>
            <a:r>
              <a:rPr lang="en-GB" sz="1400" dirty="0">
                <a:effectLst/>
                <a:latin typeface="Helvetica" pitchFamily="2" charset="0"/>
              </a:rPr>
              <a:t>, relationship)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027E3-0ED5-6D93-3CF6-149B4F7DC0A8}"/>
              </a:ext>
            </a:extLst>
          </p:cNvPr>
          <p:cNvSpPr txBox="1"/>
          <p:nvPr/>
        </p:nvSpPr>
        <p:spPr>
          <a:xfrm>
            <a:off x="152400" y="2546684"/>
            <a:ext cx="5633465" cy="42473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SELECT</a:t>
            </a:r>
          </a:p>
          <a:p>
            <a:r>
              <a:rPr lang="en-US" dirty="0"/>
              <a:t>  </a:t>
            </a:r>
            <a:r>
              <a:rPr lang="en-US" dirty="0" err="1"/>
              <a:t>e.empid</a:t>
            </a:r>
            <a:r>
              <a:rPr lang="en-US" dirty="0"/>
              <a:t> AS "Employee Id",</a:t>
            </a:r>
          </a:p>
          <a:p>
            <a:r>
              <a:rPr lang="en-US" dirty="0"/>
              <a:t>  </a:t>
            </a:r>
            <a:r>
              <a:rPr lang="en-US" dirty="0" err="1"/>
              <a:t>e.lname</a:t>
            </a:r>
            <a:r>
              <a:rPr lang="en-US" dirty="0"/>
              <a:t> AS "Last Name",</a:t>
            </a:r>
          </a:p>
          <a:p>
            <a:r>
              <a:rPr lang="en-US" dirty="0"/>
              <a:t>  </a:t>
            </a:r>
            <a:r>
              <a:rPr lang="en-US" dirty="0" err="1"/>
              <a:t>d.dname</a:t>
            </a:r>
            <a:r>
              <a:rPr lang="en-US" dirty="0"/>
              <a:t> AS "Dept. name",</a:t>
            </a:r>
          </a:p>
          <a:p>
            <a:r>
              <a:rPr lang="en-US" dirty="0"/>
              <a:t>  </a:t>
            </a:r>
            <a:r>
              <a:rPr lang="en-US" dirty="0" err="1"/>
              <a:t>e.salary</a:t>
            </a:r>
            <a:r>
              <a:rPr lang="en-US" dirty="0"/>
              <a:t> AS "Salary",</a:t>
            </a:r>
          </a:p>
          <a:p>
            <a:r>
              <a:rPr lang="en-US" dirty="0"/>
              <a:t>  COUNT(DISTINCT </a:t>
            </a:r>
            <a:r>
              <a:rPr lang="en-US" dirty="0" err="1"/>
              <a:t>w.pno</a:t>
            </a:r>
            <a:r>
              <a:rPr lang="en-US" dirty="0"/>
              <a:t>) AS "No. of </a:t>
            </a:r>
            <a:r>
              <a:rPr lang="en-US" dirty="0" err="1"/>
              <a:t>Proj</a:t>
            </a:r>
            <a:r>
              <a:rPr lang="en-US" dirty="0"/>
              <a:t>",</a:t>
            </a:r>
          </a:p>
          <a:p>
            <a:r>
              <a:rPr lang="en-US" dirty="0"/>
              <a:t>  COUNT(DISTINCT </a:t>
            </a:r>
            <a:r>
              <a:rPr lang="en-US" dirty="0" err="1"/>
              <a:t>dep.depname</a:t>
            </a:r>
            <a:r>
              <a:rPr lang="en-US" dirty="0"/>
              <a:t>) AS "No. of Dependents"</a:t>
            </a:r>
          </a:p>
          <a:p>
            <a:r>
              <a:rPr lang="en-US" dirty="0"/>
              <a:t>FROM Employee e JOIN Department d </a:t>
            </a:r>
          </a:p>
          <a:p>
            <a:r>
              <a:rPr lang="en-US" dirty="0"/>
              <a:t>ON </a:t>
            </a:r>
            <a:r>
              <a:rPr lang="en-US" dirty="0" err="1"/>
              <a:t>e.dno</a:t>
            </a:r>
            <a:r>
              <a:rPr lang="en-US" dirty="0"/>
              <a:t> = </a:t>
            </a:r>
            <a:r>
              <a:rPr lang="en-US" dirty="0" err="1"/>
              <a:t>d.dno</a:t>
            </a:r>
            <a:endParaRPr lang="en-US" dirty="0"/>
          </a:p>
          <a:p>
            <a:r>
              <a:rPr lang="en-US" dirty="0"/>
              <a:t>JOIN WorksOn w </a:t>
            </a:r>
          </a:p>
          <a:p>
            <a:r>
              <a:rPr lang="en-US" dirty="0"/>
              <a:t>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w.empid</a:t>
            </a:r>
            <a:endParaRPr lang="en-US" dirty="0"/>
          </a:p>
          <a:p>
            <a:r>
              <a:rPr lang="en-US" dirty="0"/>
              <a:t>JOIN Dependent dep </a:t>
            </a:r>
          </a:p>
          <a:p>
            <a:r>
              <a:rPr lang="en-US" dirty="0"/>
              <a:t>ON </a:t>
            </a:r>
            <a:r>
              <a:rPr lang="en-US" dirty="0" err="1"/>
              <a:t>e.empid</a:t>
            </a:r>
            <a:r>
              <a:rPr lang="en-US" dirty="0"/>
              <a:t> = </a:t>
            </a:r>
            <a:r>
              <a:rPr lang="en-US" dirty="0" err="1"/>
              <a:t>dep.empid</a:t>
            </a:r>
            <a:endParaRPr lang="en-US" dirty="0"/>
          </a:p>
          <a:p>
            <a:r>
              <a:rPr lang="en-US" dirty="0"/>
              <a:t>GROUP BY</a:t>
            </a:r>
          </a:p>
          <a:p>
            <a:r>
              <a:rPr lang="en-US" dirty="0"/>
              <a:t>  </a:t>
            </a:r>
            <a:r>
              <a:rPr lang="en-US" dirty="0" err="1"/>
              <a:t>e.empid</a:t>
            </a:r>
            <a:r>
              <a:rPr lang="en-US" dirty="0"/>
              <a:t>, </a:t>
            </a:r>
            <a:r>
              <a:rPr lang="en-US" dirty="0" err="1"/>
              <a:t>e.lname</a:t>
            </a:r>
            <a:r>
              <a:rPr lang="en-US" dirty="0"/>
              <a:t>, </a:t>
            </a:r>
            <a:r>
              <a:rPr lang="en-US" dirty="0" err="1"/>
              <a:t>d.dname</a:t>
            </a:r>
            <a:r>
              <a:rPr lang="en-US" dirty="0"/>
              <a:t>, </a:t>
            </a:r>
            <a:r>
              <a:rPr lang="en-US" dirty="0" err="1"/>
              <a:t>e.salary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33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7772400" cy="7620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Autofit/>
          </a:bodyPr>
          <a:lstStyle/>
          <a:p>
            <a:r>
              <a:rPr lang="en" b="1" dirty="0"/>
              <a:t>RDBMS</a:t>
            </a:r>
            <a:endParaRPr b="1"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04800" y="1295400"/>
            <a:ext cx="8534400" cy="5105400"/>
          </a:xfrm>
          <a:prstGeom prst="rect">
            <a:avLst/>
          </a:prstGeom>
        </p:spPr>
        <p:txBody>
          <a:bodyPr spcFirstLastPara="1" vert="horz" wrap="square" lIns="68569" tIns="68569" rIns="68569" bIns="68569" rtlCol="0" anchor="t" anchorCtr="0">
            <a:normAutofit lnSpcReduction="10000"/>
          </a:bodyPr>
          <a:lstStyle/>
          <a:p>
            <a:pPr marL="114300" indent="0">
              <a:buNone/>
            </a:pPr>
            <a:r>
              <a:rPr lang="en" dirty="0"/>
              <a:t>A </a:t>
            </a:r>
            <a:r>
              <a:rPr lang="en" b="1" i="1" dirty="0"/>
              <a:t>database</a:t>
            </a:r>
            <a:r>
              <a:rPr lang="en" dirty="0"/>
              <a:t> is a structured collection of data that is managed by a DBMS (Database management system)</a:t>
            </a:r>
          </a:p>
          <a:p>
            <a:pPr marL="114300" indent="0">
              <a:buNone/>
            </a:pPr>
            <a:r>
              <a:rPr lang="en" dirty="0"/>
              <a:t>	</a:t>
            </a:r>
          </a:p>
          <a:p>
            <a:r>
              <a:rPr lang="en" dirty="0"/>
              <a:t>Some of the most powerful and widely used database management systems are relational: </a:t>
            </a:r>
            <a:r>
              <a:rPr lang="en" b="1" dirty="0"/>
              <a:t>RDBMS</a:t>
            </a:r>
            <a:r>
              <a:rPr lang="en" dirty="0"/>
              <a:t>.</a:t>
            </a:r>
            <a:endParaRPr lang="en-GB" dirty="0"/>
          </a:p>
          <a:p>
            <a:pPr lvl="1"/>
            <a:r>
              <a:rPr lang="en-GB" dirty="0"/>
              <a:t>They provide a </a:t>
            </a:r>
            <a:r>
              <a:rPr lang="en-GB" b="1" dirty="0"/>
              <a:t>high-level query language</a:t>
            </a:r>
            <a:r>
              <a:rPr lang="en-GB" dirty="0"/>
              <a:t> called SQL, which is based on relational algebra. </a:t>
            </a:r>
          </a:p>
          <a:p>
            <a:pPr lvl="1"/>
            <a:r>
              <a:rPr lang="en" dirty="0"/>
              <a:t>Examples of RDBMS: 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Oracle, MySQL, Microsoft SQL Server, PostgreSQL, </a:t>
            </a:r>
            <a:r>
              <a:rPr lang="en-GB" b="1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SQLite</a:t>
            </a:r>
            <a:r>
              <a:rPr lang="en-GB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Amazon RDS, etc.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596900" lvl="1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0848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D500-F96B-AAA8-EC8A-A7BCF4A1A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28600"/>
            <a:ext cx="8520600" cy="763600"/>
          </a:xfrm>
        </p:spPr>
        <p:txBody>
          <a:bodyPr>
            <a:noAutofit/>
          </a:bodyPr>
          <a:lstStyle/>
          <a:p>
            <a:r>
              <a:rPr lang="en-US" b="1" dirty="0"/>
              <a:t>RDBMs Ensure ACID Properties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0FAE7-3FC3-49BD-9686-887C4C3FC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19200"/>
            <a:ext cx="8520600" cy="4555200"/>
          </a:xfrm>
        </p:spPr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A</a:t>
            </a:r>
            <a:r>
              <a:rPr lang="en-US" dirty="0"/>
              <a:t>tomicity</a:t>
            </a:r>
            <a:r>
              <a:rPr lang="en-US" b="1" dirty="0"/>
              <a:t>:</a:t>
            </a:r>
            <a:r>
              <a:rPr lang="en-US" dirty="0"/>
              <a:t> transactions, which consist of multiple statements, are treated as atomic.</a:t>
            </a:r>
          </a:p>
          <a:p>
            <a:pPr lvl="1"/>
            <a:r>
              <a:rPr lang="en-US" dirty="0"/>
              <a:t>Either the whole thing succeeds or the whole thing fails</a:t>
            </a:r>
          </a:p>
          <a:p>
            <a:pPr lvl="1"/>
            <a:endParaRPr lang="en-US" dirty="0"/>
          </a:p>
          <a:p>
            <a:r>
              <a:rPr lang="en-US" b="1" dirty="0"/>
              <a:t>C</a:t>
            </a:r>
            <a:r>
              <a:rPr lang="en-US" dirty="0"/>
              <a:t>onsistency</a:t>
            </a:r>
            <a:r>
              <a:rPr lang="en-US" b="1" dirty="0"/>
              <a:t>: </a:t>
            </a:r>
            <a:r>
              <a:rPr lang="en-US" dirty="0"/>
              <a:t>transactions can only bring the database from one valid state to another</a:t>
            </a:r>
          </a:p>
          <a:p>
            <a:pPr lvl="1"/>
            <a:r>
              <a:rPr lang="en-US" dirty="0"/>
              <a:t>a state is valid if it follows all the specified rules including constraints</a:t>
            </a:r>
          </a:p>
          <a:p>
            <a:pPr lvl="1"/>
            <a:endParaRPr lang="en-US" dirty="0"/>
          </a:p>
          <a:p>
            <a:r>
              <a:rPr lang="en-US" b="1" dirty="0"/>
              <a:t>I</a:t>
            </a:r>
            <a:r>
              <a:rPr lang="en-US" dirty="0"/>
              <a:t>solation</a:t>
            </a:r>
            <a:r>
              <a:rPr lang="en-US" b="1" dirty="0"/>
              <a:t>:</a:t>
            </a:r>
            <a:r>
              <a:rPr lang="en-US" dirty="0"/>
              <a:t> ensures that concurrent execution of transactions leaves the database in the same state that would have been obtained if the transactions were executed sequentially. </a:t>
            </a:r>
          </a:p>
          <a:p>
            <a:endParaRPr lang="en-US" dirty="0"/>
          </a:p>
          <a:p>
            <a:r>
              <a:rPr lang="en-US" b="1" dirty="0"/>
              <a:t>D</a:t>
            </a:r>
            <a:r>
              <a:rPr lang="en-US" dirty="0"/>
              <a:t>urability: database commits are final and durable even if system fails after a commit.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741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7861-8638-A7AF-CF46-F315ACBB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PART II</a:t>
            </a:r>
            <a:br>
              <a:rPr lang="en-US" b="1" dirty="0"/>
            </a:br>
            <a:r>
              <a:rPr lang="en-US" b="1" dirty="0"/>
              <a:t>Practicing with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909D-6490-6320-46E5-75D9558F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Open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>
                <a:hlinkClick r:id="rId2"/>
              </a:rPr>
              <a:t>https://sqliteonline.com/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Upload Schema/Data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Download </a:t>
            </a:r>
            <a:r>
              <a:rPr lang="en-US" b="1" dirty="0" err="1">
                <a:hlinkClick r:id="rId3"/>
              </a:rPr>
              <a:t>emp_db.sql</a:t>
            </a:r>
            <a:endParaRPr lang="en-US" b="1" dirty="0"/>
          </a:p>
          <a:p>
            <a:pPr lvl="1"/>
            <a:r>
              <a:rPr lang="en-US" dirty="0"/>
              <a:t>Import into </a:t>
            </a:r>
            <a:r>
              <a:rPr lang="en-US" dirty="0">
                <a:hlinkClick r:id="rId2"/>
              </a:rPr>
              <a:t>https://sqliteonline.com/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4475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FC4E-B30D-AE1D-1752-C44B98A1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Write SQL for the Following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038C-6158-F5FD-9107-9F3461AB0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1) List the first name, last name, and salary of all employees whose salary is at least 80000.</a:t>
            </a:r>
          </a:p>
          <a:p>
            <a:pPr marL="0" indent="0">
              <a:buNone/>
            </a:pPr>
            <a:r>
              <a:rPr lang="en-US" sz="1600" b="1" dirty="0"/>
              <a:t>2) List the employee id and department number of all employees whose gender is 'F' and who live at an address containing 'London’ </a:t>
            </a:r>
            <a:r>
              <a:rPr lang="en-US" sz="1600" dirty="0"/>
              <a:t>(use  LIKE '%London%’)</a:t>
            </a:r>
          </a:p>
          <a:p>
            <a:pPr marL="0" indent="0">
              <a:buNone/>
            </a:pPr>
            <a:r>
              <a:rPr lang="en-US" sz="1600" b="1" dirty="0"/>
              <a:t>3) List the department name and manager start date for all departments whose department number is greater than 20.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                   Expected result: </a:t>
            </a:r>
          </a:p>
          <a:p>
            <a:pPr marL="514350" indent="-514350">
              <a:buFont typeface="+mj-lt"/>
              <a:buAutoNum type="arabicPeriod"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4) List the employee ids and last names of all employees who work in the HR department.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	          Expected result: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5) List the project names and locations for all projects controlled by the Engineering department. 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                               Expected result:</a:t>
            </a:r>
          </a:p>
          <a:p>
            <a:pPr marL="0" indent="0">
              <a:buNone/>
            </a:pPr>
            <a:endParaRPr lang="en-US" sz="16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9F039B-3241-9FB1-5DDB-DE4079F13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033321"/>
              </p:ext>
            </p:extLst>
          </p:nvPr>
        </p:nvGraphicFramePr>
        <p:xfrm>
          <a:off x="3657600" y="4287336"/>
          <a:ext cx="1346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94594925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86959991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33690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Baker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8891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1005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Patel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232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BC34FF-8463-714C-ACAA-17C27FA8D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92290"/>
              </p:ext>
            </p:extLst>
          </p:nvPr>
        </p:nvGraphicFramePr>
        <p:xfrm>
          <a:off x="3657600" y="3048000"/>
          <a:ext cx="21336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39793301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5233265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dname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mgstartdate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7448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Finance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2021-04-10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9803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Sales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2020-06-20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3395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IT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2024-02-01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16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41BFDA-E6A8-17B6-D731-7110198D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921777"/>
              </p:ext>
            </p:extLst>
          </p:nvPr>
        </p:nvGraphicFramePr>
        <p:xfrm>
          <a:off x="3657600" y="5715000"/>
          <a:ext cx="2133600" cy="5715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87714344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90639210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pname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plocation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869142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Product Alpha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sz="1100" b="0" dirty="0">
                          <a:effectLst/>
                          <a:latin typeface="Helvetica" pitchFamily="2" charset="0"/>
                        </a:rPr>
                        <a:t>Cambridge</a:t>
                      </a:r>
                    </a:p>
                  </a:txBody>
                  <a:tcPr marL="47625" marR="47625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7698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072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35E2C-2526-B384-0C91-D3C7F2DD9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310D-9088-42B8-821D-CFF1465B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6) List the employee ids and project numbers for all employees who work more than 15 hours on a single project.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sz="1600" b="1" dirty="0"/>
              <a:t>7) For each department, list the department name and the number of employees in that department.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4B9F4D-5ED6-5B3A-A0D0-B95F6D692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841618"/>
              </p:ext>
            </p:extLst>
          </p:nvPr>
        </p:nvGraphicFramePr>
        <p:xfrm>
          <a:off x="3962400" y="2408223"/>
          <a:ext cx="13462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54290811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104399771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pno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467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2002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5428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0562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1003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2004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66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EEF79D-D3B0-21DF-7650-97A5417F2039}"/>
              </a:ext>
            </a:extLst>
          </p:cNvPr>
          <p:cNvSpPr txBox="1"/>
          <p:nvPr/>
        </p:nvSpPr>
        <p:spPr>
          <a:xfrm>
            <a:off x="2159000" y="2604557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Expected result: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D6CA6D-FA66-D6D6-1063-048835277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2588"/>
              </p:ext>
            </p:extLst>
          </p:nvPr>
        </p:nvGraphicFramePr>
        <p:xfrm>
          <a:off x="3962400" y="4441643"/>
          <a:ext cx="25146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2893559497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9506308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dname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num_employees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5671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Engineering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3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9125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Finance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09949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HR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406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IT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874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Sales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31904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B6E1679-4625-E5E8-27A7-A5036EB275F2}"/>
              </a:ext>
            </a:extLst>
          </p:cNvPr>
          <p:cNvSpPr txBox="1"/>
          <p:nvPr/>
        </p:nvSpPr>
        <p:spPr>
          <a:xfrm>
            <a:off x="2159000" y="4828477"/>
            <a:ext cx="198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Expected result: </a:t>
            </a:r>
          </a:p>
        </p:txBody>
      </p:sp>
    </p:spTree>
    <p:extLst>
      <p:ext uri="{BB962C8B-B14F-4D97-AF65-F5344CB8AC3E}">
        <p14:creationId xmlns:p14="http://schemas.microsoft.com/office/powerpoint/2010/main" val="2564642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C54E-1817-01C1-5636-1B905B669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continued…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9CBA-F464-AD89-5421-332A2AE94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8) List the employee ids and last names of employees who work on at least two projects.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9) List the employee ids and last names of employees whose salary is higher than the average salary in their own department.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10) List the employee ids and last names of employees who work on the maximum number of projects in the entire company.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B32A9FC-42E8-748F-BCDE-449F8F2AC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917505"/>
              </p:ext>
            </p:extLst>
          </p:nvPr>
        </p:nvGraphicFramePr>
        <p:xfrm>
          <a:off x="3810000" y="2209800"/>
          <a:ext cx="1346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191096505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41436753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empid</a:t>
                      </a:r>
                      <a:endParaRPr lang="en-GB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4073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1008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Ali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7781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5F67AE-8F56-DBA9-B59D-3A4D6472DCFD}"/>
              </a:ext>
            </a:extLst>
          </p:cNvPr>
          <p:cNvSpPr txBox="1"/>
          <p:nvPr/>
        </p:nvSpPr>
        <p:spPr>
          <a:xfrm>
            <a:off x="2093440" y="2209800"/>
            <a:ext cx="17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result: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76CF3F-FC16-87AA-F968-DA4887A64E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03159"/>
              </p:ext>
            </p:extLst>
          </p:nvPr>
        </p:nvGraphicFramePr>
        <p:xfrm>
          <a:off x="3810000" y="3981451"/>
          <a:ext cx="1346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113551422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9493243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empid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31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Rahman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55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1004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Baker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936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F3FAE5-670E-C2A1-B631-D717A8F86FEA}"/>
              </a:ext>
            </a:extLst>
          </p:cNvPr>
          <p:cNvSpPr txBox="1"/>
          <p:nvPr/>
        </p:nvSpPr>
        <p:spPr>
          <a:xfrm>
            <a:off x="2093440" y="4094203"/>
            <a:ext cx="1716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result: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4341AA0-AFFA-167B-C8D8-8E0A48173F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823790"/>
              </p:ext>
            </p:extLst>
          </p:nvPr>
        </p:nvGraphicFramePr>
        <p:xfrm>
          <a:off x="3810000" y="5829841"/>
          <a:ext cx="1346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1953433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44190551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empid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lname</a:t>
                      </a:r>
                      <a:endParaRPr lang="en-GB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872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>
                          <a:effectLst/>
                        </a:rPr>
                        <a:t>1008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100" u="none" strike="noStrike" dirty="0">
                          <a:effectLst/>
                        </a:rPr>
                        <a:t>Ali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89628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DC5D44C-B5AB-47D2-5F4D-15B94D3E3033}"/>
              </a:ext>
            </a:extLst>
          </p:cNvPr>
          <p:cNvSpPr txBox="1"/>
          <p:nvPr/>
        </p:nvSpPr>
        <p:spPr>
          <a:xfrm>
            <a:off x="2113493" y="584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Expected result:</a:t>
            </a:r>
          </a:p>
        </p:txBody>
      </p:sp>
    </p:spTree>
    <p:extLst>
      <p:ext uri="{BB962C8B-B14F-4D97-AF65-F5344CB8AC3E}">
        <p14:creationId xmlns:p14="http://schemas.microsoft.com/office/powerpoint/2010/main" val="1102281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DC85-FA7E-D412-2F1C-97185F44F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More Queries to Attempt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69560-2C68-C72C-0764-B2EB37CE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first and last names of all employees along with their department names.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project names and the last names of employees working on each project.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employee ids and total number of hours each employee works across all projects.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department names and the total salary paid to employees in each department.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have no dependents.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project names of projects that currently have no employees assigned.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work on every project.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department names that have more than three employees.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 earn the highest salary in their department.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en-US" b="1" i="1" dirty="0"/>
              <a:t>List the ids and last names of employees whose total project hours exceed the company-wide average total project hours per employee.</a:t>
            </a:r>
          </a:p>
        </p:txBody>
      </p:sp>
    </p:spTree>
    <p:extLst>
      <p:ext uri="{BB962C8B-B14F-4D97-AF65-F5344CB8AC3E}">
        <p14:creationId xmlns:p14="http://schemas.microsoft.com/office/powerpoint/2010/main" val="342005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6602</TotalTime>
  <Words>4115</Words>
  <Application>Microsoft Macintosh PowerPoint</Application>
  <PresentationFormat>On-screen Show (4:3)</PresentationFormat>
  <Paragraphs>723</Paragraphs>
  <Slides>37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Cambria Math</vt:lpstr>
      <vt:lpstr>Helvetica</vt:lpstr>
      <vt:lpstr>Roboto</vt:lpstr>
      <vt:lpstr>Office Theme</vt:lpstr>
      <vt:lpstr>Week 5  Relational Databases The Relational Model, Relational Algebra, and SQL</vt:lpstr>
      <vt:lpstr>Today’s Topics</vt:lpstr>
      <vt:lpstr>Database Options Repeated from Week 4</vt:lpstr>
      <vt:lpstr>The Relational Model</vt:lpstr>
      <vt:lpstr>The Relational Model</vt:lpstr>
      <vt:lpstr>Relational Schema</vt:lpstr>
      <vt:lpstr>Example: A simple HR database</vt:lpstr>
      <vt:lpstr>Relational Operators</vt:lpstr>
      <vt:lpstr>Projection</vt:lpstr>
      <vt:lpstr>Union</vt:lpstr>
      <vt:lpstr>Intersection</vt:lpstr>
      <vt:lpstr>Difference</vt:lpstr>
      <vt:lpstr>Queries Using Union, Intersection, Difference and Projection</vt:lpstr>
      <vt:lpstr>Queries Using Union, Intersection, Difference and Projection</vt:lpstr>
      <vt:lpstr>Conditional Selection</vt:lpstr>
      <vt:lpstr>Queries Using Union, Intersection, Difference, Projection and Conditional Selection</vt:lpstr>
      <vt:lpstr>Cross Product (or Cross Join)</vt:lpstr>
      <vt:lpstr>Join (or inner join)</vt:lpstr>
      <vt:lpstr>Natural Join</vt:lpstr>
      <vt:lpstr>Left Outer Join</vt:lpstr>
      <vt:lpstr>Left Outer Join Example</vt:lpstr>
      <vt:lpstr>Queries Using Set Operations, Projection, Conditional Selection and Joins</vt:lpstr>
      <vt:lpstr>Queries Using Set Operations, Projection, Conditional Selection and Joins</vt:lpstr>
      <vt:lpstr>Aggregation</vt:lpstr>
      <vt:lpstr>Aggregation Example</vt:lpstr>
      <vt:lpstr>Queries Using Aggregation</vt:lpstr>
      <vt:lpstr>Nested Queries (or Subqueries)</vt:lpstr>
      <vt:lpstr>Miscellaneous Queries</vt:lpstr>
      <vt:lpstr>Miscellaneous Queries</vt:lpstr>
      <vt:lpstr>Miscellaneous Queries</vt:lpstr>
      <vt:lpstr>RDBMS</vt:lpstr>
      <vt:lpstr>RDBMs Ensure ACID Properties </vt:lpstr>
      <vt:lpstr>PART II Practicing with SQL</vt:lpstr>
      <vt:lpstr>Write SQL for the Following Queries</vt:lpstr>
      <vt:lpstr>continued…</vt:lpstr>
      <vt:lpstr>continued…</vt:lpstr>
      <vt:lpstr>More Queries to Attempt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2.2</dc:title>
  <dc:creator>Sarim Baig</dc:creator>
  <cp:lastModifiedBy>Sarim Baig</cp:lastModifiedBy>
  <cp:revision>66</cp:revision>
  <cp:lastPrinted>2026-02-01T12:47:20Z</cp:lastPrinted>
  <dcterms:created xsi:type="dcterms:W3CDTF">2021-09-12T09:21:33Z</dcterms:created>
  <dcterms:modified xsi:type="dcterms:W3CDTF">2026-02-01T12:53:07Z</dcterms:modified>
</cp:coreProperties>
</file>